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3ddcc2e3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3ddcc2e3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3ddcc2e3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3ddcc2e3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3ddcc2e3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3ddcc2e3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3ddcc2e3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a3ddcc2e3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3ddcc2e3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a3ddcc2e3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3ddcc2e3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a3ddcc2e3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3ddcc2e3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a3ddcc2e3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a3ddcc2e3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a3ddcc2e3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a3ddcc2e3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fa3ddcc2e3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a3ddcc2e3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a3ddcc2e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a3ddcc2e3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a3ddcc2e3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a3ddcc2e3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a3ddcc2e3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a3ddcc2e3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fa3ddcc2e3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a3ddcc2e3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fa3ddcc2e3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ddcc2e3_17_0)">
  <p:cSld name="Generated (g3fa3ddcc2e3_1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0.png"/><Relationship Id="rId13" Type="http://schemas.openxmlformats.org/officeDocument/2006/relationships/image" Target="../media/image36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9" Type="http://schemas.openxmlformats.org/officeDocument/2006/relationships/image" Target="../media/image32.png"/><Relationship Id="rId15" Type="http://schemas.openxmlformats.org/officeDocument/2006/relationships/image" Target="../media/image45.png"/><Relationship Id="rId14" Type="http://schemas.openxmlformats.org/officeDocument/2006/relationships/image" Target="../media/image43.png"/><Relationship Id="rId16" Type="http://schemas.openxmlformats.org/officeDocument/2006/relationships/image" Target="../media/image46.png"/><Relationship Id="rId5" Type="http://schemas.openxmlformats.org/officeDocument/2006/relationships/image" Target="../media/image19.png"/><Relationship Id="rId6" Type="http://schemas.openxmlformats.org/officeDocument/2006/relationships/image" Target="../media/image37.png"/><Relationship Id="rId7" Type="http://schemas.openxmlformats.org/officeDocument/2006/relationships/image" Target="../media/image34.png"/><Relationship Id="rId8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dr.nasa.gov" TargetMode="External"/><Relationship Id="rId4" Type="http://schemas.openxmlformats.org/officeDocument/2006/relationships/hyperlink" Target="https://www.kaggle.com/benchmarks/tasks/gastondana/rr-10-transcriptomics-reasoning-benchmark/2" TargetMode="External"/><Relationship Id="rId9" Type="http://schemas.openxmlformats.org/officeDocument/2006/relationships/hyperlink" Target="https://scholar.google.com/citations?view_op=view_citation&amp;hl=en&amp;user=juOv0f0AAAAJ&amp;citation_for_view=juOv0f0AAAAJ:d1gkVwhDpl0C" TargetMode="External"/><Relationship Id="rId5" Type="http://schemas.openxmlformats.org/officeDocument/2006/relationships/hyperlink" Target="https://www.kaggle.com/code/gastondana/cerebellum-vs-hippocampus-rr-10-spaceflight-mice" TargetMode="External"/><Relationship Id="rId6" Type="http://schemas.openxmlformats.org/officeDocument/2006/relationships/hyperlink" Target="https://orbiting-minds.vercel.app/" TargetMode="External"/><Relationship Id="rId7" Type="http://schemas.openxmlformats.org/officeDocument/2006/relationships/hyperlink" Target="https://github.com/gastondana627/blender-simulator" TargetMode="External"/><Relationship Id="rId8" Type="http://schemas.openxmlformats.org/officeDocument/2006/relationships/hyperlink" Target="https://github.com/gastondana627/blender-simul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400050" y="400050"/>
              <a:ext cx="114300" cy="114300"/>
              <a:chOff x="-57150" y="-57150"/>
              <a:chExt cx="114300" cy="114300"/>
            </a:xfrm>
          </p:grpSpPr>
          <p:cxnSp>
            <p:nvCxnSpPr>
              <p:cNvPr id="58" name="Google Shape;58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" name="Google Shape;60;p14"/>
            <p:cNvGrpSpPr/>
            <p:nvPr/>
          </p:nvGrpSpPr>
          <p:grpSpPr>
            <a:xfrm>
              <a:off x="8629650" y="400050"/>
              <a:ext cx="114300" cy="114300"/>
              <a:chOff x="-57150" y="-57150"/>
              <a:chExt cx="114300" cy="114300"/>
            </a:xfrm>
          </p:grpSpPr>
          <p:cxnSp>
            <p:nvCxnSpPr>
              <p:cNvPr id="61" name="Google Shape;61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3" name="Google Shape;63;p14"/>
            <p:cNvGrpSpPr/>
            <p:nvPr/>
          </p:nvGrpSpPr>
          <p:grpSpPr>
            <a:xfrm>
              <a:off x="400050" y="4629150"/>
              <a:ext cx="114300" cy="114300"/>
              <a:chOff x="-57150" y="-57150"/>
              <a:chExt cx="114300" cy="114300"/>
            </a:xfrm>
          </p:grpSpPr>
          <p:cxnSp>
            <p:nvCxnSpPr>
              <p:cNvPr id="64" name="Google Shape;64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6" name="Google Shape;66;p14"/>
            <p:cNvGrpSpPr/>
            <p:nvPr/>
          </p:nvGrpSpPr>
          <p:grpSpPr>
            <a:xfrm>
              <a:off x="8629650" y="4629150"/>
              <a:ext cx="114300" cy="114300"/>
              <a:chOff x="-57150" y="-57150"/>
              <a:chExt cx="114300" cy="114300"/>
            </a:xfrm>
          </p:grpSpPr>
          <p:cxnSp>
            <p:nvCxnSpPr>
              <p:cNvPr id="67" name="Google Shape;67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715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9" name="Google Shape;69;p14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" name="Google Shape;71;p14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2" name="Google Shape;72;p14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3" name="Google Shape;73;p14"/>
          <p:cNvGrpSpPr/>
          <p:nvPr/>
        </p:nvGrpSpPr>
        <p:grpSpPr>
          <a:xfrm>
            <a:off x="457200" y="985838"/>
            <a:ext cx="8677350" cy="2981400"/>
            <a:chOff x="457200" y="985838"/>
            <a:chExt cx="8677350" cy="2981400"/>
          </a:xfrm>
        </p:grpSpPr>
        <p:pic>
          <p:nvPicPr>
            <p:cNvPr id="74" name="Google Shape;7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200" y="2471738"/>
              <a:ext cx="82296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4150" y="985838"/>
              <a:ext cx="6410400" cy="298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76625" y="1466850"/>
              <a:ext cx="5238900" cy="201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81238" y="2438400"/>
              <a:ext cx="96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86238" y="2438400"/>
              <a:ext cx="96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91238" y="2438400"/>
              <a:ext cx="96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96238" y="2438400"/>
              <a:ext cx="9600" cy="7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4"/>
          <p:cNvSpPr txBox="1"/>
          <p:nvPr/>
        </p:nvSpPr>
        <p:spPr>
          <a:xfrm>
            <a:off x="457200" y="1238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38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Orbiting Minds</a:t>
            </a:r>
            <a:endParaRPr b="0" sz="38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457200" y="2762250"/>
            <a:ext cx="5524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B997E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RR-10 Data-to-3D Simulation Experience</a:t>
            </a:r>
            <a:endParaRPr b="0" sz="1600">
              <a:solidFill>
                <a:srgbClr val="CB997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From spaceflight mouse-brain transcriptomics to interactive visual evidence and creative media.</a:t>
            </a:r>
            <a:endParaRPr b="0" sz="12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Presenter: Gaston Dana, Multimodal Technologist • Kaggle Researcher</a:t>
            </a:r>
            <a:endParaRPr b="0" sz="90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286500" y="4191000"/>
            <a:ext cx="240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Gaston Dana • 2026</a:t>
            </a:r>
            <a:endParaRPr b="0" sz="90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5"/>
          <p:cNvGrpSpPr/>
          <p:nvPr/>
        </p:nvGrpSpPr>
        <p:grpSpPr>
          <a:xfrm>
            <a:off x="457200" y="381000"/>
            <a:ext cx="8229750" cy="533400"/>
            <a:chOff x="457200" y="381000"/>
            <a:chExt cx="8229750" cy="533400"/>
          </a:xfrm>
        </p:grpSpPr>
        <p:grpSp>
          <p:nvGrpSpPr>
            <p:cNvPr id="90" name="Google Shape;90;p15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2" name="Google Shape;92;p15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3" name="Google Shape;93;p15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94" name="Google Shape;94;p15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p15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419100" y="4648200"/>
            <a:ext cx="8305800" cy="76200"/>
            <a:chOff x="419100" y="4648200"/>
            <a:chExt cx="8305800" cy="76200"/>
          </a:xfrm>
        </p:grpSpPr>
        <p:grpSp>
          <p:nvGrpSpPr>
            <p:cNvPr id="97" name="Google Shape;97;p15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98" name="Google Shape;98;p15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5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0" name="Google Shape;100;p15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101" name="Google Shape;101;p15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" name="Google Shape;102;p15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3" name="Google Shape;103;p15"/>
          <p:cNvSpPr txBox="1"/>
          <p:nvPr/>
        </p:nvSpPr>
        <p:spPr>
          <a:xfrm>
            <a:off x="457200" y="1095375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How can open space-biology data become more interpretable, inspectable, and memorable?</a:t>
            </a:r>
            <a:endParaRPr b="0" sz="22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cxnSp>
        <p:nvCxnSpPr>
          <p:cNvPr id="104" name="Google Shape;104;p15"/>
          <p:cNvCxnSpPr/>
          <p:nvPr/>
        </p:nvCxnSpPr>
        <p:spPr>
          <a:xfrm>
            <a:off x="457200" y="1952625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47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5"/>
          <p:cNvSpPr txBox="1"/>
          <p:nvPr/>
        </p:nvSpPr>
        <p:spPr>
          <a:xfrm>
            <a:off x="457200" y="2047875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01 // BRIDGING THE ANALYTICAL GAP</a:t>
            </a:r>
            <a:endParaRPr b="0" sz="90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By bridging the gap between raw datasets and interactive media, this project demonstrates how open transcriptomics data can be communicated beyond static plots.</a:t>
            </a:r>
            <a:endParaRPr b="0" sz="11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457200" y="2809875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47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5"/>
          <p:cNvSpPr txBox="1"/>
          <p:nvPr/>
        </p:nvSpPr>
        <p:spPr>
          <a:xfrm>
            <a:off x="457200" y="2905125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02 // HYBRID EVIDENCE INTERPRETATION</a:t>
            </a:r>
            <a:endParaRPr b="0" sz="90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While a benchmark tests how AI systems interpret structured scientific evidence, an interactive visual layer keeps the original evidence visible, creating a more accessible narrative.</a:t>
            </a:r>
            <a:endParaRPr b="0" sz="11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457200" y="3667125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47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p15"/>
          <p:cNvGrpSpPr/>
          <p:nvPr/>
        </p:nvGrpSpPr>
        <p:grpSpPr>
          <a:xfrm>
            <a:off x="457200" y="3762375"/>
            <a:ext cx="8229750" cy="476400"/>
            <a:chOff x="0" y="0"/>
            <a:chExt cx="8229750" cy="47640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19200" cy="476400"/>
            </a:xfrm>
            <a:prstGeom prst="rect">
              <a:avLst/>
            </a:prstGeom>
            <a:solidFill>
              <a:srgbClr val="FF5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71450" y="0"/>
              <a:ext cx="8058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>
                  <a:solidFill>
                    <a:srgbClr val="FF54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LIMITATION //</a:t>
              </a:r>
              <a:r>
                <a:rPr b="0" i="1" lang="en" sz="11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Ultimately, visualization extends analysis communication; it does not replace primary analysis.</a:t>
              </a:r>
              <a:endParaRPr b="0" i="1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457200" y="495300"/>
            <a:ext cx="228600" cy="152400"/>
            <a:chOff x="0" y="38100"/>
            <a:chExt cx="228600" cy="152400"/>
          </a:xfrm>
        </p:grpSpPr>
        <p:sp>
          <p:nvSpPr>
            <p:cNvPr id="118" name="Google Shape;118;p16"/>
            <p:cNvSpPr/>
            <p:nvPr/>
          </p:nvSpPr>
          <p:spPr>
            <a:xfrm>
              <a:off x="38100" y="3810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" name="Google Shape;119;p16"/>
            <p:cNvCxnSpPr/>
            <p:nvPr/>
          </p:nvCxnSpPr>
          <p:spPr>
            <a:xfrm>
              <a:off x="0" y="1143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6"/>
            <p:cNvSpPr/>
            <p:nvPr/>
          </p:nvSpPr>
          <p:spPr>
            <a:xfrm>
              <a:off x="95250" y="95250"/>
              <a:ext cx="38100" cy="38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1" name="Google Shape;121;p16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857250" y="4000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RR-10: Spaceflight Mouse-Brain Transcriptomics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258050" y="381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ORBITING MINDS</a:t>
            </a:r>
            <a:endParaRPr b="0" sz="85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419100" y="4648200"/>
            <a:ext cx="76200" cy="76200"/>
            <a:chOff x="-38100" y="-38100"/>
            <a:chExt cx="76200" cy="7620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16"/>
          <p:cNvGrpSpPr/>
          <p:nvPr/>
        </p:nvGrpSpPr>
        <p:grpSpPr>
          <a:xfrm>
            <a:off x="8648700" y="4648200"/>
            <a:ext cx="76200" cy="76200"/>
            <a:chOff x="-38100" y="-38100"/>
            <a:chExt cx="76200" cy="76200"/>
          </a:xfrm>
        </p:grpSpPr>
        <p:cxnSp>
          <p:nvCxnSpPr>
            <p:cNvPr id="128" name="Google Shape;128;p1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0" name="Google Shape;130;p16"/>
          <p:cNvSpPr txBox="1"/>
          <p:nvPr/>
        </p:nvSpPr>
        <p:spPr>
          <a:xfrm>
            <a:off x="457200" y="1333500"/>
            <a:ext cx="38100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Mission Context</a:t>
            </a:r>
            <a:endParaRPr b="0" sz="85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F4F4F0"/>
                </a:solidFill>
                <a:latin typeface="Space Grotesk"/>
                <a:ea typeface="Space Grotesk"/>
                <a:cs typeface="Space Grotesk"/>
                <a:sym typeface="Space Grotesk"/>
              </a:rPr>
              <a:t>NASA Rodent Research-10</a:t>
            </a:r>
            <a:endParaRPr b="0" sz="1900">
              <a:solidFill>
                <a:srgbClr val="F4F4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The </a:t>
            </a:r>
            <a:r>
              <a:rPr b="0" lang="en" sz="1100">
                <a:solidFill>
                  <a:srgbClr val="CB997E"/>
                </a:solidFill>
                <a:latin typeface="Inter Medium"/>
                <a:ea typeface="Inter Medium"/>
                <a:cs typeface="Inter Medium"/>
                <a:sym typeface="Inter Medium"/>
              </a:rPr>
              <a:t>NASA Rodent Research-10 (RR-10)</a:t>
            </a: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mission provides the baseline scientific context for comparing spaceflight-induced physiological changes against earthbound baselines.</a:t>
            </a:r>
            <a:endParaRPr b="0" sz="11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This comparative analysis strictly evaluates </a:t>
            </a:r>
            <a:r>
              <a:rPr b="0" lang="en" sz="1100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Flight (FLT)</a:t>
            </a: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and </a:t>
            </a:r>
            <a:r>
              <a:rPr b="0" lang="en" sz="1100">
                <a:solidFill>
                  <a:srgbClr val="FF7D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Ground Control (GC)</a:t>
            </a: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mouse samples, mapping region-specific neurological adaptation.</a:t>
            </a:r>
            <a:endParaRPr b="0" sz="11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900"/>
              </a:spcAft>
              <a:buNone/>
            </a:pPr>
            <a:r>
              <a:rPr b="0" lang="en" sz="10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Focus is localized to two distinct functional brain regions: the </a:t>
            </a:r>
            <a:r>
              <a:rPr b="0" lang="en" sz="105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cerebellum</a:t>
            </a:r>
            <a:r>
              <a:rPr b="0" lang="en" sz="10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 and the </a:t>
            </a:r>
            <a:r>
              <a:rPr b="0" lang="en" sz="105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hippocampus</a:t>
            </a:r>
            <a:r>
              <a:rPr b="0" lang="en" sz="10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, tracking transcriptional variations and sequence provenance.</a:t>
            </a:r>
            <a:endParaRPr b="0" sz="105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31" name="Google Shape;131;p16"/>
          <p:cNvGrpSpPr/>
          <p:nvPr/>
        </p:nvGrpSpPr>
        <p:grpSpPr>
          <a:xfrm>
            <a:off x="4762500" y="1333500"/>
            <a:ext cx="3924300" cy="2809800"/>
            <a:chOff x="0" y="0"/>
            <a:chExt cx="3924300" cy="28098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3924300" cy="28098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>
              <a:off x="0" y="428625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0" y="11430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16"/>
            <p:cNvCxnSpPr/>
            <p:nvPr/>
          </p:nvCxnSpPr>
          <p:spPr>
            <a:xfrm>
              <a:off x="0" y="1857375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16"/>
            <p:cNvCxnSpPr/>
            <p:nvPr/>
          </p:nvCxnSpPr>
          <p:spPr>
            <a:xfrm>
              <a:off x="2476500" y="0"/>
              <a:ext cx="0" cy="2809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16"/>
            <p:cNvSpPr txBox="1"/>
            <p:nvPr/>
          </p:nvSpPr>
          <p:spPr>
            <a:xfrm>
              <a:off x="152400" y="13335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OSDR Source Study / Region</a:t>
              </a:r>
              <a:endParaRPr b="0" sz="900">
                <a:solidFill>
                  <a:srgbClr val="9999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2628900" y="133350"/>
              <a:ext cx="114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Provenance ID</a:t>
              </a:r>
              <a:endParaRPr b="0" sz="900">
                <a:solidFill>
                  <a:srgbClr val="9999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152400" y="552450"/>
              <a:ext cx="2190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07A5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OSD-563</a:t>
              </a:r>
              <a:endParaRPr b="0" sz="1300">
                <a:solidFill>
                  <a:srgbClr val="E07A5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Cerebellum Transcriptomics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628900" y="5524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GLDS-568</a:t>
              </a:r>
              <a:endParaRPr b="0" sz="13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Dataset Registry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152400" y="1266825"/>
              <a:ext cx="2190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07A5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OSD-564</a:t>
              </a:r>
              <a:endParaRPr b="0" sz="1300">
                <a:solidFill>
                  <a:srgbClr val="E07A5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Hippocampus Transcriptomics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628900" y="1266825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GLDS-569</a:t>
              </a:r>
              <a:endParaRPr b="0" sz="13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Dataset Registry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52400" y="1981200"/>
              <a:ext cx="2190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Analytical Conditions</a:t>
              </a:r>
              <a:endParaRPr b="0" sz="750">
                <a:solidFill>
                  <a:srgbClr val="9999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B4D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FLT</a:t>
              </a:r>
              <a: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(Flight Samples) vs. </a:t>
              </a:r>
              <a:b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</a:br>
              <a:r>
                <a:rPr b="0" lang="en" sz="1000">
                  <a:solidFill>
                    <a:srgbClr val="FF7D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GC</a:t>
              </a:r>
              <a: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(Ground Control Baseline)</a:t>
              </a:r>
              <a:endParaRPr b="0"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2628900" y="1981200"/>
              <a:ext cx="1143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Organism</a:t>
              </a:r>
              <a:endParaRPr b="0" sz="750">
                <a:solidFill>
                  <a:srgbClr val="9999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Mus musculus</a:t>
              </a:r>
              <a:endParaRPr b="0" sz="11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RR-10 Cohort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17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3" name="Google Shape;153;p17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4" name="Google Shape;154;p17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5" name="Google Shape;155;p17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6" name="Google Shape;156;p17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157" name="Google Shape;157;p1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9" name="Google Shape;159;p17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160" name="Google Shape;160;p1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2" name="Google Shape;162;p17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457200" y="1190625"/>
            <a:ext cx="3962400" cy="2524125"/>
            <a:chOff x="457200" y="1190625"/>
            <a:chExt cx="3962400" cy="2524125"/>
          </a:xfrm>
        </p:grpSpPr>
        <p:sp>
          <p:nvSpPr>
            <p:cNvPr id="164" name="Google Shape;164;p17"/>
            <p:cNvSpPr txBox="1"/>
            <p:nvPr/>
          </p:nvSpPr>
          <p:spPr>
            <a:xfrm>
              <a:off x="457200" y="1190625"/>
              <a:ext cx="3962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REGION 01 // CEREBELLAR TISSUE</a:t>
              </a:r>
              <a:endParaRPr b="0" sz="833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5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Cerebellum Comparison</a:t>
              </a:r>
              <a:endParaRPr b="0" sz="185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18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An investigation of cerebellar architecture, evaluating spatial variance and transcriptomic stability between flight conditions and terrestrial baselines.</a:t>
              </a:r>
              <a:endParaRPr b="0" sz="1018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457200" y="2381250"/>
              <a:ext cx="3962400" cy="1333500"/>
            </a:xfrm>
            <a:prstGeom prst="rect">
              <a:avLst/>
            </a:prstGeom>
            <a:solidFill>
              <a:srgbClr val="1A1A1A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609600" y="2552700"/>
              <a:ext cx="28500" cy="1335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04850" y="2524125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FLT PROFILE</a:t>
              </a:r>
              <a:endParaRPr b="0" sz="90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Derived transcriptomic parameters show elevated dispersion in outer cerebellar layers.</a:t>
              </a:r>
              <a:endParaRPr b="0"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2324100" y="2552700"/>
              <a:ext cx="28500" cy="133500"/>
            </a:xfrm>
            <a:prstGeom prst="rect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2419350" y="2524125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7D6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GC PROFILE</a:t>
              </a:r>
              <a:endParaRPr b="0" sz="90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Ground control baseline shows uniform architectural stability under standard conditions.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70" name="Google Shape;170;p17"/>
          <p:cNvGrpSpPr/>
          <p:nvPr/>
        </p:nvGrpSpPr>
        <p:grpSpPr>
          <a:xfrm>
            <a:off x="4724400" y="1190625"/>
            <a:ext cx="3962400" cy="2524125"/>
            <a:chOff x="4724400" y="1190625"/>
            <a:chExt cx="3962400" cy="2524125"/>
          </a:xfrm>
        </p:grpSpPr>
        <p:sp>
          <p:nvSpPr>
            <p:cNvPr id="171" name="Google Shape;171;p17"/>
            <p:cNvSpPr txBox="1"/>
            <p:nvPr/>
          </p:nvSpPr>
          <p:spPr>
            <a:xfrm>
              <a:off x="4724400" y="1190625"/>
              <a:ext cx="3962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REGION 02 // HIPPOCAMPAL TISSUE</a:t>
              </a:r>
              <a:endParaRPr b="0" sz="833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5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Hippocampus Comparison</a:t>
              </a:r>
              <a:endParaRPr b="0" sz="185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18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Evaluating hippocampal tissue profiles to analyze how microgravity-induced stresses alter neural synaptic transcript mappings compared to ground groups.</a:t>
              </a:r>
              <a:endParaRPr b="0" sz="1018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4724400" y="2381250"/>
              <a:ext cx="3962400" cy="1333500"/>
            </a:xfrm>
            <a:prstGeom prst="rect">
              <a:avLst/>
            </a:prstGeom>
            <a:solidFill>
              <a:srgbClr val="1A1A1A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4876800" y="2552700"/>
              <a:ext cx="28500" cy="1335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4972050" y="2524125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FLT PROFILE</a:t>
              </a:r>
              <a:endParaRPr b="0" sz="90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Pronounced contrast in synaptic transmission transcripts across hippocampal CA1/CA3.</a:t>
              </a:r>
              <a:endParaRPr b="0"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6591300" y="2552700"/>
              <a:ext cx="28500" cy="133500"/>
            </a:xfrm>
            <a:prstGeom prst="rect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6686550" y="2524125"/>
              <a:ext cx="152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7D6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GC PROFILE</a:t>
              </a:r>
              <a:endParaRPr b="0" sz="90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Ground control maintains expected spatial patterns of localized genetic expression.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177" name="Google Shape;177;p17"/>
          <p:cNvCxnSpPr/>
          <p:nvPr/>
        </p:nvCxnSpPr>
        <p:spPr>
          <a:xfrm>
            <a:off x="457200" y="3952875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8" name="Google Shape;178;p17"/>
          <p:cNvGrpSpPr/>
          <p:nvPr/>
        </p:nvGrpSpPr>
        <p:grpSpPr>
          <a:xfrm>
            <a:off x="457200" y="4143375"/>
            <a:ext cx="8229600" cy="381000"/>
            <a:chOff x="0" y="0"/>
            <a:chExt cx="8229600" cy="38100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14400" cy="381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152400" y="0"/>
              <a:ext cx="807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i="1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Visualization extends analysis communication; it does not replace primary analysis.</a:t>
              </a:r>
              <a:endParaRPr b="0" i="1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6" name="Google Shape;186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8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9" name="Google Shape;189;p18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0" name="Google Shape;190;p18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1" name="Google Shape;191;p18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2" name="Google Shape;192;p18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193" name="Google Shape;193;p18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8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95" name="Google Shape;195;p18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196" name="Google Shape;196;p18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8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8" name="Google Shape;198;p18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457200" y="1047750"/>
            <a:ext cx="8229600" cy="1047675"/>
            <a:chOff x="457200" y="1047750"/>
            <a:chExt cx="8229600" cy="1047675"/>
          </a:xfrm>
        </p:grpSpPr>
        <p:sp>
          <p:nvSpPr>
            <p:cNvPr id="200" name="Google Shape;200;p18"/>
            <p:cNvSpPr txBox="1"/>
            <p:nvPr/>
          </p:nvSpPr>
          <p:spPr>
            <a:xfrm>
              <a:off x="457200" y="1047750"/>
              <a:ext cx="822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22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From source records to reproducible notebook evidence</a:t>
              </a:r>
              <a:endParaRPr b="0" sz="22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457200" y="1571625"/>
              <a:ext cx="8229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The spaceflight transcriptomics pipeline translates raw NASA OSDR source metadata into analytical benchmarks, generating structured datasets and procedural 3D visual environments.</a:t>
              </a:r>
              <a:endParaRPr b="0" sz="11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457200" y="2428875"/>
            <a:ext cx="8229600" cy="1952550"/>
            <a:chOff x="457200" y="2428875"/>
            <a:chExt cx="8229600" cy="1952550"/>
          </a:xfrm>
        </p:grpSpPr>
        <p:pic>
          <p:nvPicPr>
            <p:cNvPr id="203" name="Google Shape;20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8700" y="2457450"/>
              <a:ext cx="10239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38375" y="2457450"/>
              <a:ext cx="10287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52813" y="2457450"/>
              <a:ext cx="10239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0" y="2457450"/>
              <a:ext cx="10239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76925" y="2457450"/>
              <a:ext cx="10287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91363" y="2457450"/>
              <a:ext cx="1023900" cy="38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9" name="Google Shape;209;p18"/>
            <p:cNvGrpSpPr/>
            <p:nvPr/>
          </p:nvGrpSpPr>
          <p:grpSpPr>
            <a:xfrm>
              <a:off x="457200" y="2428875"/>
              <a:ext cx="952500" cy="1952550"/>
              <a:chOff x="-476250" y="2428875"/>
              <a:chExt cx="952500" cy="1952550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-47625" y="2428875"/>
                <a:ext cx="95400" cy="954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1" name="Google Shape;211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2" name="Google Shape;212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07A5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01</a:t>
                </a:r>
                <a:endParaRPr b="0" sz="900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NASA OSDR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Source records (OSD-563, OSD-564)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13" name="Google Shape;213;p18"/>
            <p:cNvGrpSpPr/>
            <p:nvPr/>
          </p:nvGrpSpPr>
          <p:grpSpPr>
            <a:xfrm>
              <a:off x="1669733" y="2438400"/>
              <a:ext cx="952500" cy="1943025"/>
              <a:chOff x="-476250" y="2438400"/>
              <a:chExt cx="952500" cy="1943025"/>
            </a:xfrm>
          </p:grpSpPr>
          <p:sp>
            <p:nvSpPr>
              <p:cNvPr id="214" name="Google Shape;214;p18"/>
              <p:cNvSpPr/>
              <p:nvPr/>
            </p:nvSpPr>
            <p:spPr>
              <a:xfrm>
                <a:off x="-38100" y="2438400"/>
                <a:ext cx="76200" cy="76200"/>
              </a:xfrm>
              <a:prstGeom prst="ellipse">
                <a:avLst/>
              </a:prstGeom>
              <a:solidFill>
                <a:srgbClr val="CB997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5" name="Google Shape;215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6" name="Google Shape;216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CB997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02</a:t>
                </a:r>
                <a:endParaRPr b="0" sz="900">
                  <a:solidFill>
                    <a:srgbClr val="CB997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Kaggle DB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Translated public dataset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17" name="Google Shape;217;p18"/>
            <p:cNvGrpSpPr/>
            <p:nvPr/>
          </p:nvGrpSpPr>
          <p:grpSpPr>
            <a:xfrm>
              <a:off x="2883217" y="2438400"/>
              <a:ext cx="952500" cy="1943025"/>
              <a:chOff x="-476250" y="2438400"/>
              <a:chExt cx="952500" cy="1943025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-38100" y="2438400"/>
                <a:ext cx="76200" cy="76200"/>
              </a:xfrm>
              <a:prstGeom prst="ellipse">
                <a:avLst/>
              </a:prstGeom>
              <a:solidFill>
                <a:srgbClr val="F4F4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9" name="Google Shape;219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0" name="Google Shape;220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03</a:t>
                </a:r>
                <a:endParaRPr b="0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Notebook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Cerebellum vs Hippocampus analysis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21" name="Google Shape;221;p18"/>
            <p:cNvGrpSpPr/>
            <p:nvPr/>
          </p:nvGrpSpPr>
          <p:grpSpPr>
            <a:xfrm>
              <a:off x="4095750" y="2438400"/>
              <a:ext cx="952500" cy="1943025"/>
              <a:chOff x="-476250" y="2438400"/>
              <a:chExt cx="952500" cy="1943025"/>
            </a:xfrm>
          </p:grpSpPr>
          <p:sp>
            <p:nvSpPr>
              <p:cNvPr id="222" name="Google Shape;222;p18"/>
              <p:cNvSpPr/>
              <p:nvPr/>
            </p:nvSpPr>
            <p:spPr>
              <a:xfrm>
                <a:off x="-38100" y="2438400"/>
                <a:ext cx="76200" cy="76200"/>
              </a:xfrm>
              <a:prstGeom prst="ellipse">
                <a:avLst/>
              </a:prstGeom>
              <a:solidFill>
                <a:srgbClr val="FFB70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3" name="Google Shape;223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4" name="Google Shape;224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B70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04</a:t>
                </a:r>
                <a:endParaRPr b="0" sz="900">
                  <a:solidFill>
                    <a:srgbClr val="FFB70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Benchmark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RR-10 transcriptomics reasoning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25" name="Google Shape;225;p18"/>
            <p:cNvGrpSpPr/>
            <p:nvPr/>
          </p:nvGrpSpPr>
          <p:grpSpPr>
            <a:xfrm>
              <a:off x="5308283" y="2438400"/>
              <a:ext cx="952500" cy="1943025"/>
              <a:chOff x="-476250" y="2438400"/>
              <a:chExt cx="952500" cy="1943025"/>
            </a:xfrm>
          </p:grpSpPr>
          <p:sp>
            <p:nvSpPr>
              <p:cNvPr id="226" name="Google Shape;226;p18"/>
              <p:cNvSpPr/>
              <p:nvPr/>
            </p:nvSpPr>
            <p:spPr>
              <a:xfrm>
                <a:off x="-38100" y="2438400"/>
                <a:ext cx="76200" cy="762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7" name="Google Shape;227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8" name="Google Shape;228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05</a:t>
                </a:r>
                <a:endParaRPr b="0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JSON Truth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Processed biological data matrix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29" name="Google Shape;229;p18"/>
            <p:cNvGrpSpPr/>
            <p:nvPr/>
          </p:nvGrpSpPr>
          <p:grpSpPr>
            <a:xfrm>
              <a:off x="6521768" y="2438400"/>
              <a:ext cx="952500" cy="1943025"/>
              <a:chOff x="-476250" y="2438400"/>
              <a:chExt cx="952500" cy="1943025"/>
            </a:xfrm>
          </p:grpSpPr>
          <p:sp>
            <p:nvSpPr>
              <p:cNvPr id="230" name="Google Shape;230;p18"/>
              <p:cNvSpPr/>
              <p:nvPr/>
            </p:nvSpPr>
            <p:spPr>
              <a:xfrm>
                <a:off x="-38100" y="2438400"/>
                <a:ext cx="76200" cy="76200"/>
              </a:xfrm>
              <a:prstGeom prst="ellipse">
                <a:avLst/>
              </a:prstGeom>
              <a:solidFill>
                <a:srgbClr val="FF54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1" name="Google Shape;231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2" name="Google Shape;232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540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06</a:t>
                </a:r>
                <a:endParaRPr b="0" sz="900">
                  <a:solidFill>
                    <a:srgbClr val="FF540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Blender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Procedural tissue &amp; flight visualization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233" name="Google Shape;233;p18"/>
            <p:cNvGrpSpPr/>
            <p:nvPr/>
          </p:nvGrpSpPr>
          <p:grpSpPr>
            <a:xfrm>
              <a:off x="7734300" y="2428875"/>
              <a:ext cx="952500" cy="1952550"/>
              <a:chOff x="-476250" y="2428875"/>
              <a:chExt cx="952500" cy="1952550"/>
            </a:xfrm>
          </p:grpSpPr>
          <p:sp>
            <p:nvSpPr>
              <p:cNvPr id="234" name="Google Shape;234;p18"/>
              <p:cNvSpPr/>
              <p:nvPr/>
            </p:nvSpPr>
            <p:spPr>
              <a:xfrm>
                <a:off x="-47625" y="2428875"/>
                <a:ext cx="95400" cy="95400"/>
              </a:xfrm>
              <a:prstGeom prst="ellipse">
                <a:avLst/>
              </a:prstGeom>
              <a:solidFill>
                <a:srgbClr val="00B4D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18"/>
              <p:cNvCxnSpPr/>
              <p:nvPr/>
            </p:nvCxnSpPr>
            <p:spPr>
              <a:xfrm>
                <a:off x="0" y="2524125"/>
                <a:ext cx="0" cy="123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0B4D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6" name="Google Shape;236;p18"/>
              <p:cNvSpPr txBox="1"/>
              <p:nvPr/>
            </p:nvSpPr>
            <p:spPr>
              <a:xfrm>
                <a:off x="-476250" y="2714625"/>
                <a:ext cx="952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B4D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STEP 07</a:t>
                </a:r>
                <a:endParaRPr b="0" sz="90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GLB / WebGL</a:t>
                </a:r>
                <a:endParaRPr b="0" sz="110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Interactive model experience</a:t>
                </a:r>
                <a:endParaRPr b="0" sz="9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19"/>
          <p:cNvGrpSpPr/>
          <p:nvPr/>
        </p:nvGrpSpPr>
        <p:grpSpPr>
          <a:xfrm>
            <a:off x="457200" y="495300"/>
            <a:ext cx="228600" cy="152400"/>
            <a:chOff x="0" y="38100"/>
            <a:chExt cx="228600" cy="152400"/>
          </a:xfrm>
        </p:grpSpPr>
        <p:sp>
          <p:nvSpPr>
            <p:cNvPr id="243" name="Google Shape;243;p19"/>
            <p:cNvSpPr/>
            <p:nvPr/>
          </p:nvSpPr>
          <p:spPr>
            <a:xfrm>
              <a:off x="38100" y="3810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4" name="Google Shape;244;p19"/>
            <p:cNvCxnSpPr/>
            <p:nvPr/>
          </p:nvCxnSpPr>
          <p:spPr>
            <a:xfrm>
              <a:off x="0" y="1143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5" name="Google Shape;245;p19"/>
            <p:cNvSpPr/>
            <p:nvPr/>
          </p:nvSpPr>
          <p:spPr>
            <a:xfrm>
              <a:off x="95250" y="95250"/>
              <a:ext cx="38100" cy="38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6" name="Google Shape;246;p19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p19"/>
          <p:cNvGrpSpPr/>
          <p:nvPr/>
        </p:nvGrpSpPr>
        <p:grpSpPr>
          <a:xfrm>
            <a:off x="6477000" y="381000"/>
            <a:ext cx="2247900" cy="190500"/>
            <a:chOff x="0" y="0"/>
            <a:chExt cx="2247900" cy="1905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19050"/>
              <a:ext cx="76200" cy="762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152400" y="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FLT (FLIGHT)</a:t>
              </a:r>
              <a:endParaRPr b="0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143000" y="19050"/>
              <a:ext cx="76200" cy="76200"/>
            </a:xfrm>
            <a:prstGeom prst="rect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1295400" y="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GC (GROUND)</a:t>
              </a:r>
              <a:endParaRPr b="0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419100" y="4648200"/>
            <a:ext cx="76200" cy="76200"/>
            <a:chOff x="-38100" y="-38100"/>
            <a:chExt cx="76200" cy="76200"/>
          </a:xfrm>
        </p:grpSpPr>
        <p:cxnSp>
          <p:nvCxnSpPr>
            <p:cNvPr id="253" name="Google Shape;253;p19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19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5" name="Google Shape;255;p19"/>
          <p:cNvGrpSpPr/>
          <p:nvPr/>
        </p:nvGrpSpPr>
        <p:grpSpPr>
          <a:xfrm>
            <a:off x="8648700" y="4648200"/>
            <a:ext cx="76200" cy="76200"/>
            <a:chOff x="-38100" y="-38100"/>
            <a:chExt cx="76200" cy="76200"/>
          </a:xfrm>
        </p:grpSpPr>
        <p:cxnSp>
          <p:nvCxnSpPr>
            <p:cNvPr id="256" name="Google Shape;256;p19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19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8" name="Google Shape;258;p19"/>
          <p:cNvSpPr txBox="1"/>
          <p:nvPr/>
        </p:nvSpPr>
        <p:spPr>
          <a:xfrm>
            <a:off x="457200" y="1238250"/>
            <a:ext cx="3810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Transcriptomic Space Analysis</a:t>
            </a:r>
            <a:endParaRPr b="0" sz="85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Distinct PCA Space Positions</a:t>
            </a:r>
            <a:endParaRPr b="0" sz="22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Flight (</a:t>
            </a:r>
            <a:r>
              <a:rPr b="0" lang="en" sz="1150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FLT</a:t>
            </a:r>
            <a:r>
              <a:rPr b="0" lang="en" sz="11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) and Ground Control (</a:t>
            </a:r>
            <a:r>
              <a:rPr b="0" lang="en" sz="1150">
                <a:solidFill>
                  <a:srgbClr val="FF7D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r>
              <a:rPr b="0" lang="en" sz="11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) samples occupy distinct positions in PCA space. This Principal Component Analysis provides clear visual evidence of the variance between the sample conditions.</a:t>
            </a:r>
            <a:endParaRPr b="0" sz="11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rPr>
              <a:t>Cerebellum (OSD-563)</a:t>
            </a:r>
            <a:endParaRPr b="0" sz="850">
              <a:solidFill>
                <a:srgbClr val="00B4D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PC1 accounts for </a:t>
            </a:r>
            <a:r>
              <a:rPr b="0" lang="en" sz="10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25.6%</a:t>
            </a: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 and PC2 for </a:t>
            </a:r>
            <a:r>
              <a:rPr b="0" lang="en" sz="10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18.5%</a:t>
            </a: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b="0" sz="10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rPr>
              <a:t>Hippocampus (OSD-564)</a:t>
            </a:r>
            <a:endParaRPr b="0" sz="850">
              <a:solidFill>
                <a:srgbClr val="FF7D6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1200"/>
              </a:spcAft>
              <a:buNone/>
            </a:pP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PC1 represents </a:t>
            </a:r>
            <a:r>
              <a:rPr b="0" lang="en" sz="10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28.3%</a:t>
            </a: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 and PC2 is </a:t>
            </a:r>
            <a:r>
              <a:rPr b="0" lang="en" sz="10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15.7%</a:t>
            </a: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b="0" sz="10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59" name="Google Shape;259;p19"/>
          <p:cNvGrpSpPr/>
          <p:nvPr/>
        </p:nvGrpSpPr>
        <p:grpSpPr>
          <a:xfrm>
            <a:off x="4762500" y="1238250"/>
            <a:ext cx="3429000" cy="2952900"/>
            <a:chOff x="0" y="0"/>
            <a:chExt cx="3429000" cy="2952900"/>
          </a:xfrm>
        </p:grpSpPr>
        <p:sp>
          <p:nvSpPr>
            <p:cNvPr id="260" name="Google Shape;260;p19"/>
            <p:cNvSpPr/>
            <p:nvPr/>
          </p:nvSpPr>
          <p:spPr>
            <a:xfrm>
              <a:off x="0" y="0"/>
              <a:ext cx="3429000" cy="29529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" name="Google Shape;26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375" y="471488"/>
              <a:ext cx="2800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375" y="1042988"/>
              <a:ext cx="2800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375" y="1614488"/>
              <a:ext cx="2800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375" y="2185988"/>
              <a:ext cx="2800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2488" y="190500"/>
              <a:ext cx="9600" cy="226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23988" y="190500"/>
              <a:ext cx="9600" cy="226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5488" y="190500"/>
              <a:ext cx="9600" cy="226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66988" y="190500"/>
              <a:ext cx="9600" cy="2267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9" name="Google Shape;269;p19"/>
            <p:cNvCxnSpPr/>
            <p:nvPr/>
          </p:nvCxnSpPr>
          <p:spPr>
            <a:xfrm>
              <a:off x="333375" y="2476500"/>
              <a:ext cx="2809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9"/>
            <p:cNvCxnSpPr/>
            <p:nvPr/>
          </p:nvCxnSpPr>
          <p:spPr>
            <a:xfrm>
              <a:off x="333375" y="190500"/>
              <a:ext cx="0" cy="2286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1" name="Google Shape;271;p19"/>
            <p:cNvSpPr txBox="1"/>
            <p:nvPr/>
          </p:nvSpPr>
          <p:spPr>
            <a:xfrm>
              <a:off x="159353" y="447675"/>
              <a:ext cx="882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30</a:t>
              </a:r>
              <a:endParaRPr sz="520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159353" y="1019175"/>
              <a:ext cx="882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15</a:t>
              </a:r>
              <a:endParaRPr sz="563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203502" y="1590675"/>
              <a:ext cx="441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</a:t>
              </a:r>
              <a:endParaRPr sz="520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115205" y="2162175"/>
              <a:ext cx="1323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-15</a:t>
              </a:r>
              <a:endParaRPr sz="563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791027" y="2562225"/>
              <a:ext cx="1323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-20</a:t>
              </a:r>
              <a:endParaRPr sz="563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1362532" y="2562225"/>
              <a:ext cx="1323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-10</a:t>
              </a:r>
              <a:endParaRPr sz="563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1978181" y="2562225"/>
              <a:ext cx="441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</a:t>
              </a:r>
              <a:endParaRPr sz="520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8" name="Google Shape;278;p19"/>
            <p:cNvSpPr txBox="1"/>
            <p:nvPr/>
          </p:nvSpPr>
          <p:spPr>
            <a:xfrm>
              <a:off x="2527602" y="2562225"/>
              <a:ext cx="882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10</a:t>
              </a:r>
              <a:endParaRPr sz="563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3099102" y="2562225"/>
              <a:ext cx="882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20</a:t>
              </a:r>
              <a:endParaRPr sz="520">
                <a:solidFill>
                  <a:srgbClr val="9999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1184720" y="2752725"/>
              <a:ext cx="10596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3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PC1 (Variance Explained)</a:t>
              </a:r>
              <a:endParaRPr b="0" sz="563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81" name="Google Shape;281;p19"/>
            <p:cNvSpPr txBox="1"/>
            <p:nvPr/>
          </p:nvSpPr>
          <p:spPr>
            <a:xfrm rot="-5400000">
              <a:off x="-414900" y="1275731"/>
              <a:ext cx="1059600" cy="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3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PC2 (Variance Explained)</a:t>
              </a:r>
              <a:endParaRPr b="0" sz="563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762000" y="619125"/>
              <a:ext cx="95400" cy="95400"/>
            </a:xfrm>
            <a:prstGeom prst="ellipse">
              <a:avLst/>
            </a:pr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952500" y="762000"/>
              <a:ext cx="95400" cy="95400"/>
            </a:xfrm>
            <a:prstGeom prst="ellipse">
              <a:avLst/>
            </a:pr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1095375" y="523875"/>
              <a:ext cx="95400" cy="95400"/>
            </a:xfrm>
            <a:prstGeom prst="ellipse">
              <a:avLst/>
            </a:pr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857250" y="904875"/>
              <a:ext cx="95400" cy="95400"/>
            </a:xfrm>
            <a:prstGeom prst="ellipse">
              <a:avLst/>
            </a:pr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1228725" y="1190625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1419225" y="1381125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1133475" y="1524000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1466850" y="1047750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D8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524125" y="1762125"/>
              <a:ext cx="95400" cy="95400"/>
            </a:xfrm>
            <a:prstGeom prst="ellipse">
              <a:avLst/>
            </a:pr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2714625" y="1952625"/>
              <a:ext cx="95400" cy="95400"/>
            </a:xfrm>
            <a:prstGeom prst="ellipse">
              <a:avLst/>
            </a:pr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619375" y="1619250"/>
              <a:ext cx="95400" cy="95400"/>
            </a:xfrm>
            <a:prstGeom prst="ellipse">
              <a:avLst/>
            </a:pr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2905125" y="1809750"/>
              <a:ext cx="95400" cy="95400"/>
            </a:xfrm>
            <a:prstGeom prst="ellipse">
              <a:avLst/>
            </a:pr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133600" y="2047875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2324100" y="2238375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990725" y="1905000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276475" y="1619250"/>
              <a:ext cx="1143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7D6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8" name="Google Shape;298;p19"/>
            <p:cNvGrpSpPr/>
            <p:nvPr/>
          </p:nvGrpSpPr>
          <p:grpSpPr>
            <a:xfrm>
              <a:off x="1709738" y="233363"/>
              <a:ext cx="1390800" cy="390600"/>
              <a:chOff x="-4762" y="-4762"/>
              <a:chExt cx="1390800" cy="390600"/>
            </a:xfrm>
          </p:grpSpPr>
          <p:pic>
            <p:nvPicPr>
              <p:cNvPr id="299" name="Google Shape;29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1390800" cy="390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0" name="Google Shape;300;p19"/>
              <p:cNvSpPr/>
              <p:nvPr/>
            </p:nvSpPr>
            <p:spPr>
              <a:xfrm>
                <a:off x="109538" y="80963"/>
                <a:ext cx="66600" cy="666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 txBox="1"/>
              <p:nvPr/>
            </p:nvSpPr>
            <p:spPr>
              <a:xfrm>
                <a:off x="247650" y="85725"/>
                <a:ext cx="882900" cy="1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63">
                    <a:solidFill>
                      <a:srgbClr val="99999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Cerebellum (OSD-563)</a:t>
                </a:r>
                <a:endParaRPr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104775" y="22860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9"/>
              <p:cNvSpPr txBox="1"/>
              <p:nvPr/>
            </p:nvSpPr>
            <p:spPr>
              <a:xfrm>
                <a:off x="247650" y="219075"/>
                <a:ext cx="927000" cy="1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63">
                    <a:solidFill>
                      <a:srgbClr val="99999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Hippocampus (OSD-564)</a:t>
                </a:r>
                <a:endParaRPr sz="563">
                  <a:solidFill>
                    <a:srgbClr val="99999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20"/>
          <p:cNvGrpSpPr/>
          <p:nvPr/>
        </p:nvGrpSpPr>
        <p:grpSpPr>
          <a:xfrm>
            <a:off x="419100" y="381000"/>
            <a:ext cx="8305800" cy="4343400"/>
            <a:chOff x="419100" y="381000"/>
            <a:chExt cx="8305800" cy="4343400"/>
          </a:xfrm>
        </p:grpSpPr>
        <p:grpSp>
          <p:nvGrpSpPr>
            <p:cNvPr id="309" name="Google Shape;309;p20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310" name="Google Shape;310;p20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11" name="Google Shape;311;p20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12" name="Google Shape;312;p20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13" name="Google Shape;313;p20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4" name="Google Shape;314;p20"/>
            <p:cNvGrpSpPr/>
            <p:nvPr/>
          </p:nvGrpSpPr>
          <p:grpSpPr>
            <a:xfrm>
              <a:off x="6477000" y="381000"/>
              <a:ext cx="2247900" cy="190500"/>
              <a:chOff x="0" y="0"/>
              <a:chExt cx="2247900" cy="190500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0" y="19050"/>
                <a:ext cx="76200" cy="76200"/>
              </a:xfrm>
              <a:prstGeom prst="rect">
                <a:avLst/>
              </a:prstGeom>
              <a:solidFill>
                <a:srgbClr val="00B4D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0"/>
              <p:cNvSpPr txBox="1"/>
              <p:nvPr/>
            </p:nvSpPr>
            <p:spPr>
              <a:xfrm>
                <a:off x="1524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FLT (FLIGHT)</a:t>
                </a:r>
                <a:endParaRPr b="0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1143000" y="19050"/>
                <a:ext cx="76200" cy="76200"/>
              </a:xfrm>
              <a:prstGeom prst="rect">
                <a:avLst/>
              </a:prstGeom>
              <a:solidFill>
                <a:srgbClr val="FF7D6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0"/>
              <p:cNvSpPr txBox="1"/>
              <p:nvPr/>
            </p:nvSpPr>
            <p:spPr>
              <a:xfrm>
                <a:off x="12954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900">
                    <a:solidFill>
                      <a:srgbClr val="99999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GC (GROUND)</a:t>
                </a:r>
                <a:endParaRPr b="0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319" name="Google Shape;319;p20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320" name="Google Shape;320;p20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0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2" name="Google Shape;322;p20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323" name="Google Shape;323;p20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4" name="Google Shape;324;p20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25" name="Google Shape;325;p20"/>
          <p:cNvGrpSpPr/>
          <p:nvPr/>
        </p:nvGrpSpPr>
        <p:grpSpPr>
          <a:xfrm>
            <a:off x="457200" y="1238250"/>
            <a:ext cx="4000500" cy="3381375"/>
            <a:chOff x="0" y="0"/>
            <a:chExt cx="4000500" cy="3381375"/>
          </a:xfrm>
        </p:grpSpPr>
        <p:sp>
          <p:nvSpPr>
            <p:cNvPr id="326" name="Google Shape;326;p20"/>
            <p:cNvSpPr/>
            <p:nvPr/>
          </p:nvSpPr>
          <p:spPr>
            <a:xfrm>
              <a:off x="0" y="0"/>
              <a:ext cx="4000500" cy="2667000"/>
            </a:xfrm>
            <a:prstGeom prst="rect">
              <a:avLst/>
            </a:prstGeom>
            <a:solidFill>
              <a:srgbClr val="161616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7" name="Google Shape;327;p20"/>
            <p:cNvCxnSpPr/>
            <p:nvPr/>
          </p:nvCxnSpPr>
          <p:spPr>
            <a:xfrm>
              <a:off x="476250" y="85725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20"/>
            <p:cNvCxnSpPr/>
            <p:nvPr/>
          </p:nvCxnSpPr>
          <p:spPr>
            <a:xfrm>
              <a:off x="476250" y="13335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0"/>
            <p:cNvCxnSpPr/>
            <p:nvPr/>
          </p:nvCxnSpPr>
          <p:spPr>
            <a:xfrm>
              <a:off x="476250" y="180975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0"/>
            <p:cNvCxnSpPr/>
            <p:nvPr/>
          </p:nvCxnSpPr>
          <p:spPr>
            <a:xfrm>
              <a:off x="1524000" y="38100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20"/>
            <p:cNvCxnSpPr/>
            <p:nvPr/>
          </p:nvCxnSpPr>
          <p:spPr>
            <a:xfrm>
              <a:off x="2571750" y="38100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20"/>
            <p:cNvCxnSpPr/>
            <p:nvPr/>
          </p:nvCxnSpPr>
          <p:spPr>
            <a:xfrm>
              <a:off x="476250" y="38100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20"/>
            <p:cNvCxnSpPr/>
            <p:nvPr/>
          </p:nvCxnSpPr>
          <p:spPr>
            <a:xfrm>
              <a:off x="476250" y="22860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34" name="Google Shape;33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1488" y="371475"/>
              <a:ext cx="2867100" cy="1924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0"/>
            <p:cNvSpPr/>
            <p:nvPr/>
          </p:nvSpPr>
          <p:spPr>
            <a:xfrm>
              <a:off x="681038" y="2090738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919163" y="1938338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1157288" y="1776413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1395413" y="1614488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1633538" y="1462088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1871663" y="1300163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2109788" y="1138238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347913" y="985838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586038" y="823913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2824163" y="661988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3062288" y="509588"/>
              <a:ext cx="66600" cy="666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3300413" y="347663"/>
              <a:ext cx="66600" cy="66600"/>
            </a:xfrm>
            <a:prstGeom prst="ellipse">
              <a:avLst/>
            </a:prstGeom>
            <a:solidFill>
              <a:srgbClr val="FF7D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20"/>
            <p:cNvGrpSpPr/>
            <p:nvPr/>
          </p:nvGrpSpPr>
          <p:grpSpPr>
            <a:xfrm>
              <a:off x="619125" y="523875"/>
              <a:ext cx="1095300" cy="457200"/>
              <a:chOff x="0" y="0"/>
              <a:chExt cx="1095300" cy="457200"/>
            </a:xfrm>
          </p:grpSpPr>
          <p:sp>
            <p:nvSpPr>
              <p:cNvPr id="348" name="Google Shape;348;p20"/>
              <p:cNvSpPr/>
              <p:nvPr/>
            </p:nvSpPr>
            <p:spPr>
              <a:xfrm>
                <a:off x="0" y="0"/>
                <a:ext cx="1095300" cy="457200"/>
              </a:xfrm>
              <a:prstGeom prst="rect">
                <a:avLst/>
              </a:prstGeom>
              <a:solidFill>
                <a:srgbClr val="111111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0"/>
              <p:cNvSpPr txBox="1"/>
              <p:nvPr/>
            </p:nvSpPr>
            <p:spPr>
              <a:xfrm>
                <a:off x="76200" y="38100"/>
                <a:ext cx="95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E07A5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 = 1.000</a:t>
                </a:r>
                <a:endParaRPr b="1" sz="1600">
                  <a:solidFill>
                    <a:srgbClr val="E07A5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700">
                    <a:solidFill>
                      <a:srgbClr val="99999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VST AGREEMENT</a:t>
                </a:r>
                <a:endParaRPr b="0" sz="7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350" name="Google Shape;350;p20"/>
            <p:cNvSpPr txBox="1"/>
            <p:nvPr/>
          </p:nvSpPr>
          <p:spPr>
            <a:xfrm>
              <a:off x="476250" y="232410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7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PRE-REMOVAL TRANSFORMATION</a:t>
              </a:r>
              <a:endParaRPr b="0" sz="7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51" name="Google Shape;351;p20"/>
            <p:cNvSpPr txBox="1"/>
            <p:nvPr/>
          </p:nvSpPr>
          <p:spPr>
            <a:xfrm>
              <a:off x="76200" y="381000"/>
              <a:ext cx="362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333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POST-REMOVAL VST</a:t>
              </a:r>
              <a:endParaRPr b="0" sz="333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52" name="Google Shape;352;p20"/>
            <p:cNvSpPr txBox="1"/>
            <p:nvPr/>
          </p:nvSpPr>
          <p:spPr>
            <a:xfrm>
              <a:off x="0" y="2809875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FIG 01 // VST AGREEMENT PLOT</a:t>
              </a:r>
              <a:endParaRPr b="0" sz="90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Identity line y = x makes absolute value-stabilizing transformation agreement visible.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353" name="Google Shape;353;p20"/>
          <p:cNvSpPr txBox="1"/>
          <p:nvPr/>
        </p:nvSpPr>
        <p:spPr>
          <a:xfrm>
            <a:off x="4914900" y="1238250"/>
            <a:ext cx="37719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DATA INTEGRITY &amp; BENCHMARKING</a:t>
            </a:r>
            <a:endParaRPr b="0" sz="90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Quality-control context before downstream interpretation</a:t>
            </a:r>
            <a:endParaRPr b="0" sz="24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The rRNA-removal quality control figure provides essential processing context rather than a biological outcome.</a:t>
            </a:r>
            <a:endParaRPr b="0" sz="11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Per-value variance-stabilizing transformation (VST) agreement is displayed as </a:t>
            </a:r>
            <a:r>
              <a:rPr b="0" lang="en" sz="1100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 = 1.000</a:t>
            </a: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, with the identity line </a:t>
            </a:r>
            <a:r>
              <a:rPr b="0" lang="en" sz="1100">
                <a:solidFill>
                  <a:srgbClr val="E07A5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y = x</a:t>
            </a: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making this agreement clearly visible.</a:t>
            </a:r>
            <a:endParaRPr b="0" sz="11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" sz="11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Additionally, the distribution panel documents the rRNA-removal shift, ensuring data integrity before downstream interpretation.</a:t>
            </a:r>
            <a:endParaRPr b="0" sz="11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59" name="Google Shape;359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21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361" name="Google Shape;361;p21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2" name="Google Shape;362;p21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63" name="Google Shape;363;p21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64" name="Google Shape;364;p21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65" name="Google Shape;365;p21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366" name="Google Shape;366;p21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1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8" name="Google Shape;368;p21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369" name="Google Shape;369;p21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21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71" name="Google Shape;371;p21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72" name="Google Shape;372;p21"/>
          <p:cNvSpPr txBox="1"/>
          <p:nvPr/>
        </p:nvSpPr>
        <p:spPr>
          <a:xfrm>
            <a:off x="457200" y="1295400"/>
            <a:ext cx="39054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BENCHMARK GOAL</a:t>
            </a:r>
            <a:endParaRPr b="0" sz="90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Turning analysis context into an AI reasoning benchmark</a:t>
            </a:r>
            <a:endParaRPr b="0" sz="26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This benchmark tests how AI models interpret dense scientific and transcriptomic context. The evaluation task is strictly grounded in the dataset, the analysis notebook, and an explicit evaluation design.</a:t>
            </a:r>
            <a:endParaRPr b="0" sz="120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" sz="11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The project is specifically engineered to surface AI reasoning quality, evidence use, limitations, and uncertainty, rather than just generating a polished answer.</a:t>
            </a:r>
            <a:endParaRPr b="0" sz="11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4667250" y="1295400"/>
            <a:ext cx="3619650" cy="3152850"/>
            <a:chOff x="0" y="0"/>
            <a:chExt cx="3619650" cy="3152850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0" y="0"/>
              <a:ext cx="3619650" cy="962100"/>
              <a:chOff x="0" y="0"/>
              <a:chExt cx="3619650" cy="962100"/>
            </a:xfrm>
          </p:grpSpPr>
          <p:cxnSp>
            <p:nvCxnSpPr>
              <p:cNvPr id="375" name="Google Shape;375;p21"/>
              <p:cNvCxnSpPr/>
              <p:nvPr/>
            </p:nvCxnSpPr>
            <p:spPr>
              <a:xfrm>
                <a:off x="0" y="0"/>
                <a:ext cx="1047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F7D6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1"/>
              <p:cNvCxnSpPr/>
              <p:nvPr/>
            </p:nvCxnSpPr>
            <p:spPr>
              <a:xfrm>
                <a:off x="1047750" y="0"/>
                <a:ext cx="2571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7" name="Google Shape;377;p21"/>
              <p:cNvSpPr txBox="1"/>
              <p:nvPr/>
            </p:nvSpPr>
            <p:spPr>
              <a:xfrm>
                <a:off x="0" y="152400"/>
                <a:ext cx="3619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7D6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CRITERIA 01 // GROUNDED CONTEXT</a:t>
                </a:r>
                <a:endParaRPr b="0" sz="900">
                  <a:solidFill>
                    <a:srgbClr val="FF7D6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Evaluation task is strictly tied to the provided biological dataset, corresponding analysis notebook, and physical constraints.</a:t>
                </a:r>
                <a:endParaRPr b="0" sz="11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378" name="Google Shape;378;p21"/>
            <p:cNvGrpSpPr/>
            <p:nvPr/>
          </p:nvGrpSpPr>
          <p:grpSpPr>
            <a:xfrm>
              <a:off x="0" y="1095375"/>
              <a:ext cx="3619650" cy="962100"/>
              <a:chOff x="0" y="0"/>
              <a:chExt cx="3619650" cy="962100"/>
            </a:xfrm>
          </p:grpSpPr>
          <p:cxnSp>
            <p:nvCxnSpPr>
              <p:cNvPr id="379" name="Google Shape;379;p21"/>
              <p:cNvCxnSpPr/>
              <p:nvPr/>
            </p:nvCxnSpPr>
            <p:spPr>
              <a:xfrm>
                <a:off x="0" y="0"/>
                <a:ext cx="1047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00B4D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1"/>
              <p:cNvCxnSpPr/>
              <p:nvPr/>
            </p:nvCxnSpPr>
            <p:spPr>
              <a:xfrm>
                <a:off x="1047750" y="0"/>
                <a:ext cx="2571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1" name="Google Shape;381;p21"/>
              <p:cNvSpPr txBox="1"/>
              <p:nvPr/>
            </p:nvSpPr>
            <p:spPr>
              <a:xfrm>
                <a:off x="0" y="152400"/>
                <a:ext cx="3619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B4D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CRITERIA 02 // REASONING QUALITY</a:t>
                </a:r>
                <a:endParaRPr b="0" sz="90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Assesses how models parse dense technical evidence, synthesize complex transcriptomic relationships, and formulate explicit logic.</a:t>
                </a:r>
                <a:endParaRPr b="0" sz="11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382" name="Google Shape;382;p21"/>
            <p:cNvGrpSpPr/>
            <p:nvPr/>
          </p:nvGrpSpPr>
          <p:grpSpPr>
            <a:xfrm>
              <a:off x="0" y="2190750"/>
              <a:ext cx="3619650" cy="962100"/>
              <a:chOff x="0" y="0"/>
              <a:chExt cx="3619650" cy="962100"/>
            </a:xfrm>
          </p:grpSpPr>
          <p:cxnSp>
            <p:nvCxnSpPr>
              <p:cNvPr id="383" name="Google Shape;383;p21"/>
              <p:cNvCxnSpPr/>
              <p:nvPr/>
            </p:nvCxnSpPr>
            <p:spPr>
              <a:xfrm>
                <a:off x="0" y="0"/>
                <a:ext cx="1047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1"/>
              <p:cNvCxnSpPr/>
              <p:nvPr/>
            </p:nvCxnSpPr>
            <p:spPr>
              <a:xfrm>
                <a:off x="1047750" y="0"/>
                <a:ext cx="2571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5" name="Google Shape;385;p21"/>
              <p:cNvSpPr txBox="1"/>
              <p:nvPr/>
            </p:nvSpPr>
            <p:spPr>
              <a:xfrm>
                <a:off x="0" y="152400"/>
                <a:ext cx="3619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07A5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CRITERIA 03 // UNCERTAINTY &amp; LIMITS</a:t>
                </a:r>
                <a:endParaRPr b="0" sz="900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Measures the model's ability to outline transcriptomic dataset limitations, establish boundaries, and cleanly report technical uncertainty.</a:t>
                </a:r>
                <a:endParaRPr b="0" sz="11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91" name="Google Shape;391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22"/>
            <p:cNvGrpSpPr/>
            <p:nvPr/>
          </p:nvGrpSpPr>
          <p:grpSpPr>
            <a:xfrm>
              <a:off x="1314450" y="1076325"/>
              <a:ext cx="6943725" cy="419100"/>
              <a:chOff x="1314450" y="1076325"/>
              <a:chExt cx="6943725" cy="419100"/>
            </a:xfrm>
          </p:grpSpPr>
          <p:pic>
            <p:nvPicPr>
              <p:cNvPr id="393" name="Google Shape;393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33500" y="1138238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4" name="Google Shape;394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90738" y="1138238"/>
                <a:ext cx="48570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5" name="Google Shape;395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043738" y="1095375"/>
                <a:ext cx="647700" cy="147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6" name="Google Shape;396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710488" y="1090613"/>
                <a:ext cx="533400" cy="295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7" name="Google Shape;397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14450" y="1266825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8" name="Google Shape;398;p2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076450" y="112395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9" name="Google Shape;399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552700" y="1457325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0" name="Google Shape;400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029450" y="1219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1" name="Google Shape;401;p2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696200" y="1076325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2" name="Google Shape;402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220075" y="1362075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3" name="Google Shape;403;p22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404" name="Google Shape;404;p22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05" name="Google Shape;405;p22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6" name="Google Shape;406;p22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7" name="Google Shape;407;p22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8" name="Google Shape;408;p22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409" name="Google Shape;409;p22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1" name="Google Shape;411;p22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412" name="Google Shape;412;p22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2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14" name="Google Shape;414;p22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9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15" name="Google Shape;415;p22"/>
          <p:cNvSpPr txBox="1"/>
          <p:nvPr/>
        </p:nvSpPr>
        <p:spPr>
          <a:xfrm>
            <a:off x="457200" y="10953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9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scene is driven by defined visualization mappings</a:t>
            </a:r>
            <a:endParaRPr b="0" sz="19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16" name="Google Shape;416;p22"/>
          <p:cNvGrpSpPr/>
          <p:nvPr/>
        </p:nvGrpSpPr>
        <p:grpSpPr>
          <a:xfrm>
            <a:off x="457200" y="1714500"/>
            <a:ext cx="8229750" cy="2209950"/>
            <a:chOff x="457200" y="1714500"/>
            <a:chExt cx="8229750" cy="2209950"/>
          </a:xfrm>
        </p:grpSpPr>
        <p:sp>
          <p:nvSpPr>
            <p:cNvPr id="417" name="Google Shape;417;p22"/>
            <p:cNvSpPr/>
            <p:nvPr/>
          </p:nvSpPr>
          <p:spPr>
            <a:xfrm>
              <a:off x="457200" y="1714500"/>
              <a:ext cx="8229600" cy="304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8" name="Google Shape;418;p22"/>
            <p:cNvCxnSpPr/>
            <p:nvPr/>
          </p:nvCxnSpPr>
          <p:spPr>
            <a:xfrm>
              <a:off x="457200" y="1714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22"/>
            <p:cNvCxnSpPr/>
            <p:nvPr/>
          </p:nvCxnSpPr>
          <p:spPr>
            <a:xfrm>
              <a:off x="457200" y="20193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22"/>
            <p:cNvCxnSpPr/>
            <p:nvPr/>
          </p:nvCxnSpPr>
          <p:spPr>
            <a:xfrm>
              <a:off x="457200" y="24955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22"/>
            <p:cNvCxnSpPr/>
            <p:nvPr/>
          </p:nvCxnSpPr>
          <p:spPr>
            <a:xfrm>
              <a:off x="457200" y="29718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p22"/>
            <p:cNvCxnSpPr/>
            <p:nvPr/>
          </p:nvCxnSpPr>
          <p:spPr>
            <a:xfrm>
              <a:off x="457200" y="34480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22"/>
            <p:cNvCxnSpPr/>
            <p:nvPr/>
          </p:nvCxnSpPr>
          <p:spPr>
            <a:xfrm>
              <a:off x="457200" y="39243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p22"/>
            <p:cNvCxnSpPr/>
            <p:nvPr/>
          </p:nvCxnSpPr>
          <p:spPr>
            <a:xfrm>
              <a:off x="3143250" y="1714500"/>
              <a:ext cx="0" cy="2209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p22"/>
            <p:cNvCxnSpPr/>
            <p:nvPr/>
          </p:nvCxnSpPr>
          <p:spPr>
            <a:xfrm>
              <a:off x="6115050" y="1714500"/>
              <a:ext cx="0" cy="2209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6" name="Google Shape;426;p22"/>
            <p:cNvSpPr txBox="1"/>
            <p:nvPr/>
          </p:nvSpPr>
          <p:spPr>
            <a:xfrm>
              <a:off x="457200" y="1714500"/>
              <a:ext cx="2686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1143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Input Evidence Context</a:t>
              </a:r>
              <a:endParaRPr b="0" sz="850">
                <a:solidFill>
                  <a:srgbClr val="9999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3143250" y="1714500"/>
              <a:ext cx="29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1143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3D Visual Encoding</a:t>
              </a:r>
              <a:endParaRPr b="0" sz="850">
                <a:solidFill>
                  <a:srgbClr val="9999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6115050" y="1714500"/>
              <a:ext cx="2571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1143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Interpretation Boundary</a:t>
              </a:r>
              <a:endParaRPr b="0" sz="850">
                <a:solidFill>
                  <a:srgbClr val="9999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grpSp>
          <p:nvGrpSpPr>
            <p:cNvPr id="429" name="Google Shape;429;p22"/>
            <p:cNvGrpSpPr/>
            <p:nvPr/>
          </p:nvGrpSpPr>
          <p:grpSpPr>
            <a:xfrm>
              <a:off x="457200" y="2019300"/>
              <a:ext cx="8229750" cy="476400"/>
              <a:chOff x="457200" y="2019300"/>
              <a:chExt cx="8229750" cy="476400"/>
            </a:xfrm>
          </p:grpSpPr>
          <p:sp>
            <p:nvSpPr>
              <p:cNvPr id="430" name="Google Shape;430;p22"/>
              <p:cNvSpPr txBox="1"/>
              <p:nvPr/>
            </p:nvSpPr>
            <p:spPr>
              <a:xfrm>
                <a:off x="457200" y="2019300"/>
                <a:ext cx="268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Derived adaptation &amp; performance-like parameters</a:t>
                </a:r>
                <a:endParaRPr b="0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  <p:sp>
            <p:nvSpPr>
              <p:cNvPr id="431" name="Google Shape;431;p22"/>
              <p:cNvSpPr txBox="1"/>
              <p:nvPr/>
            </p:nvSpPr>
            <p:spPr>
              <a:xfrm>
                <a:off x="3143250" y="2019300"/>
                <a:ext cx="2971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0B4D8"/>
                    </a:solidFill>
                    <a:latin typeface="Inter"/>
                    <a:ea typeface="Inter"/>
                    <a:cs typeface="Inter"/>
                    <a:sym typeface="Inter"/>
                  </a:rPr>
                  <a:t>Neural-core scale and emission</a:t>
                </a:r>
                <a:endParaRPr b="0" sz="1050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2" name="Google Shape;432;p22"/>
              <p:cNvSpPr txBox="1"/>
              <p:nvPr/>
            </p:nvSpPr>
            <p:spPr>
              <a:xfrm>
                <a:off x="6115050" y="201930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Visualization control, not physical metric</a:t>
                </a:r>
                <a:endParaRPr b="0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433" name="Google Shape;433;p22"/>
            <p:cNvGrpSpPr/>
            <p:nvPr/>
          </p:nvGrpSpPr>
          <p:grpSpPr>
            <a:xfrm>
              <a:off x="457200" y="2495550"/>
              <a:ext cx="8229750" cy="476400"/>
              <a:chOff x="457200" y="2495550"/>
              <a:chExt cx="8229750" cy="476400"/>
            </a:xfrm>
          </p:grpSpPr>
          <p:sp>
            <p:nvSpPr>
              <p:cNvPr id="434" name="Google Shape;434;p22"/>
              <p:cNvSpPr txBox="1"/>
              <p:nvPr/>
            </p:nvSpPr>
            <p:spPr>
              <a:xfrm>
                <a:off x="457200" y="2495550"/>
                <a:ext cx="268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Volatility-like parameters</a:t>
                </a:r>
                <a:endParaRPr b="0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  <p:sp>
            <p:nvSpPr>
              <p:cNvPr id="435" name="Google Shape;435;p22"/>
              <p:cNvSpPr txBox="1"/>
              <p:nvPr/>
            </p:nvSpPr>
            <p:spPr>
              <a:xfrm>
                <a:off x="3143250" y="2495550"/>
                <a:ext cx="2971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0B4D8"/>
                    </a:solidFill>
                    <a:latin typeface="Inter"/>
                    <a:ea typeface="Inter"/>
                    <a:cs typeface="Inter"/>
                    <a:sym typeface="Inter"/>
                  </a:rPr>
                  <a:t>Rhythmic pulse and asymmetry</a:t>
                </a:r>
                <a:endParaRPr b="0" sz="1050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22"/>
              <p:cNvSpPr txBox="1"/>
              <p:nvPr/>
            </p:nvSpPr>
            <p:spPr>
              <a:xfrm>
                <a:off x="6115050" y="249555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Visualization control, not physical metric</a:t>
                </a:r>
                <a:endParaRPr b="0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437" name="Google Shape;437;p22"/>
            <p:cNvGrpSpPr/>
            <p:nvPr/>
          </p:nvGrpSpPr>
          <p:grpSpPr>
            <a:xfrm>
              <a:off x="457200" y="2971800"/>
              <a:ext cx="8229750" cy="476400"/>
              <a:chOff x="457200" y="2971800"/>
              <a:chExt cx="8229750" cy="476400"/>
            </a:xfrm>
          </p:grpSpPr>
          <p:sp>
            <p:nvSpPr>
              <p:cNvPr id="438" name="Google Shape;438;p22"/>
              <p:cNvSpPr txBox="1"/>
              <p:nvPr/>
            </p:nvSpPr>
            <p:spPr>
              <a:xfrm>
                <a:off x="457200" y="2971800"/>
                <a:ext cx="268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Cluster and complexity parameters</a:t>
                </a:r>
                <a:endParaRPr b="0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  <p:sp>
            <p:nvSpPr>
              <p:cNvPr id="439" name="Google Shape;439;p22"/>
              <p:cNvSpPr txBox="1"/>
              <p:nvPr/>
            </p:nvSpPr>
            <p:spPr>
              <a:xfrm>
                <a:off x="3143250" y="2971800"/>
                <a:ext cx="2971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0B4D8"/>
                    </a:solidFill>
                    <a:latin typeface="Inter"/>
                    <a:ea typeface="Inter"/>
                    <a:cs typeface="Inter"/>
                    <a:sym typeface="Inter"/>
                  </a:rPr>
                  <a:t>Telemetry ring and probe density</a:t>
                </a:r>
                <a:endParaRPr b="0" sz="1050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22"/>
              <p:cNvSpPr txBox="1"/>
              <p:nvPr/>
            </p:nvSpPr>
            <p:spPr>
              <a:xfrm>
                <a:off x="6115050" y="297180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Visualization control, not physical metric</a:t>
                </a:r>
                <a:endParaRPr b="0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  <p:grpSp>
          <p:nvGrpSpPr>
            <p:cNvPr id="441" name="Google Shape;441;p22"/>
            <p:cNvGrpSpPr/>
            <p:nvPr/>
          </p:nvGrpSpPr>
          <p:grpSpPr>
            <a:xfrm>
              <a:off x="457200" y="3448050"/>
              <a:ext cx="8229750" cy="476400"/>
              <a:chOff x="457200" y="3448050"/>
              <a:chExt cx="8229750" cy="476400"/>
            </a:xfrm>
          </p:grpSpPr>
          <p:sp>
            <p:nvSpPr>
              <p:cNvPr id="442" name="Google Shape;442;p22"/>
              <p:cNvSpPr txBox="1"/>
              <p:nvPr/>
            </p:nvSpPr>
            <p:spPr>
              <a:xfrm>
                <a:off x="457200" y="3448050"/>
                <a:ext cx="268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Duration parameters &amp; PCA coordinates</a:t>
                </a:r>
                <a:endParaRPr b="0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  <p:sp>
            <p:nvSpPr>
              <p:cNvPr id="443" name="Google Shape;443;p22"/>
              <p:cNvSpPr txBox="1"/>
              <p:nvPr/>
            </p:nvSpPr>
            <p:spPr>
              <a:xfrm>
                <a:off x="3143250" y="3448050"/>
                <a:ext cx="2971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0B4D8"/>
                    </a:solidFill>
                    <a:latin typeface="Inter"/>
                    <a:ea typeface="Inter"/>
                    <a:cs typeface="Inter"/>
                    <a:sym typeface="Inter"/>
                  </a:rPr>
                  <a:t>Animation timeline &amp; constellation motif</a:t>
                </a:r>
                <a:endParaRPr b="0" sz="1050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22"/>
              <p:cNvSpPr txBox="1"/>
              <p:nvPr/>
            </p:nvSpPr>
            <p:spPr>
              <a:xfrm>
                <a:off x="6115050" y="344805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99999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Visualization control, not physical metric</a:t>
                </a:r>
                <a:endParaRPr b="0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</p:txBody>
          </p:sp>
        </p:grpSp>
      </p:grpSp>
      <p:grpSp>
        <p:nvGrpSpPr>
          <p:cNvPr id="445" name="Google Shape;445;p22"/>
          <p:cNvGrpSpPr/>
          <p:nvPr/>
        </p:nvGrpSpPr>
        <p:grpSpPr>
          <a:xfrm>
            <a:off x="457200" y="4152900"/>
            <a:ext cx="8229600" cy="381000"/>
            <a:chOff x="0" y="0"/>
            <a:chExt cx="8229600" cy="381000"/>
          </a:xfrm>
        </p:grpSpPr>
        <p:sp>
          <p:nvSpPr>
            <p:cNvPr id="446" name="Google Shape;446;p22"/>
            <p:cNvSpPr/>
            <p:nvPr/>
          </p:nvSpPr>
          <p:spPr>
            <a:xfrm>
              <a:off x="0" y="19050"/>
              <a:ext cx="28500" cy="3240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 txBox="1"/>
            <p:nvPr/>
          </p:nvSpPr>
          <p:spPr>
            <a:xfrm>
              <a:off x="152400" y="0"/>
              <a:ext cx="807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800">
                  <a:solidFill>
                    <a:srgbClr val="E07A5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Interpretation Warning</a:t>
              </a:r>
              <a:r>
                <a:rPr b="0"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These are derived visualization controls, </a:t>
              </a:r>
              <a:r>
                <a:rPr b="0" lang="en" sz="1000">
                  <a:solidFill>
                    <a:srgbClr val="F4F4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not direct physiological measurements.</a:t>
              </a:r>
              <a:endParaRPr b="0"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oogle Shape;452;p23"/>
          <p:cNvGrpSpPr/>
          <p:nvPr/>
        </p:nvGrpSpPr>
        <p:grpSpPr>
          <a:xfrm>
            <a:off x="171450" y="171450"/>
            <a:ext cx="114300" cy="114300"/>
            <a:chOff x="-57150" y="-57150"/>
            <a:chExt cx="114300" cy="114300"/>
          </a:xfrm>
        </p:grpSpPr>
        <p:cxnSp>
          <p:nvCxnSpPr>
            <p:cNvPr id="453" name="Google Shape;453;p23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3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5" name="Google Shape;455;p23"/>
          <p:cNvGrpSpPr/>
          <p:nvPr/>
        </p:nvGrpSpPr>
        <p:grpSpPr>
          <a:xfrm>
            <a:off x="8858250" y="171450"/>
            <a:ext cx="114300" cy="114300"/>
            <a:chOff x="-57150" y="-57150"/>
            <a:chExt cx="114300" cy="114300"/>
          </a:xfrm>
        </p:grpSpPr>
        <p:cxnSp>
          <p:nvCxnSpPr>
            <p:cNvPr id="456" name="Google Shape;456;p23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23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8" name="Google Shape;458;p23"/>
          <p:cNvGrpSpPr/>
          <p:nvPr/>
        </p:nvGrpSpPr>
        <p:grpSpPr>
          <a:xfrm>
            <a:off x="171450" y="4857750"/>
            <a:ext cx="114300" cy="114300"/>
            <a:chOff x="-57150" y="-57150"/>
            <a:chExt cx="114300" cy="114300"/>
          </a:xfrm>
        </p:grpSpPr>
        <p:cxnSp>
          <p:nvCxnSpPr>
            <p:cNvPr id="459" name="Google Shape;459;p23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23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1" name="Google Shape;461;p23"/>
          <p:cNvGrpSpPr/>
          <p:nvPr/>
        </p:nvGrpSpPr>
        <p:grpSpPr>
          <a:xfrm>
            <a:off x="8858250" y="4857750"/>
            <a:ext cx="114300" cy="114300"/>
            <a:chOff x="-57150" y="-57150"/>
            <a:chExt cx="114300" cy="114300"/>
          </a:xfrm>
        </p:grpSpPr>
        <p:cxnSp>
          <p:nvCxnSpPr>
            <p:cNvPr id="462" name="Google Shape;462;p23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23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4" name="Google Shape;464;p23"/>
          <p:cNvGrpSpPr/>
          <p:nvPr/>
        </p:nvGrpSpPr>
        <p:grpSpPr>
          <a:xfrm>
            <a:off x="457200" y="714375"/>
            <a:ext cx="2857500" cy="4038600"/>
            <a:chOff x="0" y="0"/>
            <a:chExt cx="2857500" cy="4038600"/>
          </a:xfrm>
        </p:grpSpPr>
        <p:sp>
          <p:nvSpPr>
            <p:cNvPr id="465" name="Google Shape;465;p23"/>
            <p:cNvSpPr txBox="1"/>
            <p:nvPr/>
          </p:nvSpPr>
          <p:spPr>
            <a:xfrm>
              <a:off x="0" y="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SYSTEM VIEWPORT // NEURAL PROXY</a:t>
              </a:r>
              <a:endParaRPr b="0" sz="80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66" name="Google Shape;466;p23"/>
            <p:cNvSpPr txBox="1"/>
            <p:nvPr/>
          </p:nvSpPr>
          <p:spPr>
            <a:xfrm>
              <a:off x="0" y="228600"/>
              <a:ext cx="2857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 data-synchronized murine neural proxy</a:t>
              </a:r>
              <a:endParaRPr b="0" sz="222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The multi-mode WebGL interactive technical viewer delivers a real-time, data-synchronized visualization of murine brain region transcriptomics.</a:t>
              </a:r>
              <a:endParaRPr b="0" sz="1018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This neural proxy environment explicitly explains the connection between the interactive visual outputs and the underlying OSDR scientific records.</a:t>
              </a:r>
              <a:endParaRPr b="0" sz="1018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1" lang="en" sz="1018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By maintaining rigorous boundaries, the viewer ensures audiences understand exactly how the source data informs the 3D experience without confusing it for a literal biological model.</a:t>
              </a:r>
              <a:endParaRPr b="0" i="1" sz="1018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467" name="Google Shape;467;p23"/>
          <p:cNvGrpSpPr/>
          <p:nvPr/>
        </p:nvGrpSpPr>
        <p:grpSpPr>
          <a:xfrm>
            <a:off x="3619500" y="857250"/>
            <a:ext cx="5067300" cy="2857500"/>
            <a:chOff x="0" y="0"/>
            <a:chExt cx="5067300" cy="2857500"/>
          </a:xfrm>
        </p:grpSpPr>
        <p:sp>
          <p:nvSpPr>
            <p:cNvPr id="468" name="Google Shape;468;p23"/>
            <p:cNvSpPr/>
            <p:nvPr/>
          </p:nvSpPr>
          <p:spPr>
            <a:xfrm>
              <a:off x="0" y="0"/>
              <a:ext cx="5067300" cy="2857500"/>
            </a:xfrm>
            <a:prstGeom prst="rect">
              <a:avLst/>
            </a:prstGeom>
            <a:solidFill>
              <a:srgbClr val="111111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9" name="Google Shape;469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0673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23"/>
            <p:cNvSpPr/>
            <p:nvPr/>
          </p:nvSpPr>
          <p:spPr>
            <a:xfrm>
              <a:off x="95250" y="952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4781550" y="952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95250" y="25717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120000"/>
                  </a:lnTo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4781550" y="25717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moveTo>
                    <a:pt x="12000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4" name="Google Shape;474;p23"/>
            <p:cNvGrpSpPr/>
            <p:nvPr/>
          </p:nvGrpSpPr>
          <p:grpSpPr>
            <a:xfrm>
              <a:off x="142875" y="2097405"/>
              <a:ext cx="606900" cy="644850"/>
              <a:chOff x="-238125" y="-379095"/>
              <a:chExt cx="606900" cy="644850"/>
            </a:xfrm>
          </p:grpSpPr>
          <p:cxnSp>
            <p:nvCxnSpPr>
              <p:cNvPr id="475" name="Google Shape;475;p23"/>
              <p:cNvCxnSpPr/>
              <p:nvPr/>
            </p:nvCxnSpPr>
            <p:spPr>
              <a:xfrm>
                <a:off x="0" y="0"/>
                <a:ext cx="285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F7D6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6" name="Google Shape;476;p23"/>
              <p:cNvCxnSpPr/>
              <p:nvPr/>
            </p:nvCxnSpPr>
            <p:spPr>
              <a:xfrm rot="10800000">
                <a:off x="0" y="-285900"/>
                <a:ext cx="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0B4D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23"/>
              <p:cNvCxnSpPr/>
              <p:nvPr/>
            </p:nvCxnSpPr>
            <p:spPr>
              <a:xfrm flipH="1">
                <a:off x="-142800" y="0"/>
                <a:ext cx="142800" cy="142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78" name="Google Shape;478;p23"/>
              <p:cNvSpPr txBox="1"/>
              <p:nvPr/>
            </p:nvSpPr>
            <p:spPr>
              <a:xfrm>
                <a:off x="333375" y="-17145"/>
                <a:ext cx="354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16">
                    <a:solidFill>
                      <a:srgbClr val="FF7D6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X</a:t>
                </a:r>
                <a:endParaRPr sz="416">
                  <a:solidFill>
                    <a:srgbClr val="FF7D66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79" name="Google Shape;479;p23"/>
              <p:cNvSpPr txBox="1"/>
              <p:nvPr/>
            </p:nvSpPr>
            <p:spPr>
              <a:xfrm>
                <a:off x="-28575" y="-379095"/>
                <a:ext cx="354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50">
                    <a:solidFill>
                      <a:srgbClr val="00B4D8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Y</a:t>
                </a:r>
                <a:endParaRPr sz="450">
                  <a:solidFill>
                    <a:srgbClr val="00B4D8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23"/>
              <p:cNvSpPr txBox="1"/>
              <p:nvPr/>
            </p:nvSpPr>
            <p:spPr>
              <a:xfrm>
                <a:off x="-238125" y="173355"/>
                <a:ext cx="354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50">
                    <a:solidFill>
                      <a:srgbClr val="E07A5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Z</a:t>
                </a:r>
                <a:endParaRPr sz="450">
                  <a:solidFill>
                    <a:srgbClr val="E07A5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81" name="Google Shape;481;p23"/>
            <p:cNvGrpSpPr/>
            <p:nvPr/>
          </p:nvGrpSpPr>
          <p:grpSpPr>
            <a:xfrm>
              <a:off x="1247775" y="461963"/>
              <a:ext cx="2590800" cy="1538288"/>
              <a:chOff x="200025" y="176213"/>
              <a:chExt cx="2590800" cy="1538288"/>
            </a:xfrm>
          </p:grpSpPr>
          <p:pic>
            <p:nvPicPr>
              <p:cNvPr id="482" name="Google Shape;482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0025" y="176213"/>
                <a:ext cx="2590800" cy="147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3" name="Google Shape;483;p23"/>
              <p:cNvSpPr/>
              <p:nvPr/>
            </p:nvSpPr>
            <p:spPr>
              <a:xfrm>
                <a:off x="1143000" y="381000"/>
                <a:ext cx="857400" cy="1047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40000" y="32727"/>
                      <a:pt x="80000" y="65455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571500" y="762000"/>
                <a:ext cx="1143000" cy="952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50000" y="12000"/>
                      <a:pt x="100000" y="36000"/>
                      <a:pt x="120000" y="12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85" name="Google Shape;485;p23"/>
              <p:cNvGrpSpPr/>
              <p:nvPr/>
            </p:nvGrpSpPr>
            <p:grpSpPr>
              <a:xfrm>
                <a:off x="533400" y="495300"/>
                <a:ext cx="1118100" cy="395213"/>
                <a:chOff x="533400" y="495300"/>
                <a:chExt cx="1118100" cy="395213"/>
              </a:xfrm>
            </p:grpSpPr>
            <p:pic>
              <p:nvPicPr>
                <p:cNvPr id="486" name="Google Shape;486;p2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571500" y="519113"/>
                  <a:ext cx="2859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7" name="Google Shape;487;p2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857250" y="519113"/>
                  <a:ext cx="381000" cy="104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8" name="Google Shape;488;p23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952500" y="614363"/>
                  <a:ext cx="285900" cy="247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9" name="Google Shape;489;p23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571500" y="661988"/>
                  <a:ext cx="3810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0" name="Google Shape;490;p23"/>
                <p:cNvSpPr/>
                <p:nvPr/>
              </p:nvSpPr>
              <p:spPr>
                <a:xfrm>
                  <a:off x="533400" y="628650"/>
                  <a:ext cx="76200" cy="76200"/>
                </a:xfrm>
                <a:prstGeom prst="ellipse">
                  <a:avLst/>
                </a:prstGeom>
                <a:solidFill>
                  <a:srgbClr val="00B4D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828675" y="495300"/>
                  <a:ext cx="57300" cy="57300"/>
                </a:xfrm>
                <a:prstGeom prst="ellipse">
                  <a:avLst/>
                </a:prstGeom>
                <a:solidFill>
                  <a:srgbClr val="00B4D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1190625" y="571500"/>
                  <a:ext cx="95400" cy="95400"/>
                </a:xfrm>
                <a:prstGeom prst="ellipse">
                  <a:avLst/>
                </a:prstGeom>
                <a:solidFill>
                  <a:srgbClr val="00B4D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919163" y="823913"/>
                  <a:ext cx="66600" cy="66600"/>
                </a:xfrm>
                <a:prstGeom prst="ellipse">
                  <a:avLst/>
                </a:prstGeom>
                <a:solidFill>
                  <a:srgbClr val="00B4D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 txBox="1"/>
                <p:nvPr/>
              </p:nvSpPr>
              <p:spPr>
                <a:xfrm>
                  <a:off x="1333500" y="601980"/>
                  <a:ext cx="318000" cy="9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450">
                      <a:solidFill>
                        <a:srgbClr val="00B4D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FLT_SEC_A</a:t>
                  </a:r>
                  <a:endParaRPr b="1" sz="450">
                    <a:solidFill>
                      <a:srgbClr val="00B4D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5" name="Google Shape;495;p23"/>
              <p:cNvGrpSpPr/>
              <p:nvPr/>
            </p:nvGrpSpPr>
            <p:grpSpPr>
              <a:xfrm>
                <a:off x="1685925" y="433388"/>
                <a:ext cx="977925" cy="519263"/>
                <a:chOff x="1685925" y="433388"/>
                <a:chExt cx="977925" cy="519263"/>
              </a:xfrm>
            </p:grpSpPr>
            <p:pic>
              <p:nvPicPr>
                <p:cNvPr id="496" name="Google Shape;496;p23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714500" y="471488"/>
                  <a:ext cx="381000" cy="104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7" name="Google Shape;497;p23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090738" y="476250"/>
                  <a:ext cx="2001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8" name="Google Shape;498;p23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1809750" y="804863"/>
                  <a:ext cx="476400" cy="104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9" name="Google Shape;499;p23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1709738" y="571500"/>
                  <a:ext cx="1047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" name="Google Shape;500;p23"/>
                <p:cNvSpPr/>
                <p:nvPr/>
              </p:nvSpPr>
              <p:spPr>
                <a:xfrm>
                  <a:off x="1685925" y="542925"/>
                  <a:ext cx="57300" cy="57300"/>
                </a:xfrm>
                <a:prstGeom prst="ellipse">
                  <a:avLst/>
                </a:prstGeom>
                <a:solidFill>
                  <a:srgbClr val="FF7D6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2052638" y="433388"/>
                  <a:ext cx="85800" cy="85800"/>
                </a:xfrm>
                <a:prstGeom prst="ellipse">
                  <a:avLst/>
                </a:prstGeom>
                <a:solidFill>
                  <a:srgbClr val="FF7D6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2257425" y="781050"/>
                  <a:ext cx="57300" cy="57300"/>
                </a:xfrm>
                <a:prstGeom prst="ellipse">
                  <a:avLst/>
                </a:prstGeom>
                <a:solidFill>
                  <a:srgbClr val="FF7D6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23"/>
                <p:cNvSpPr/>
                <p:nvPr/>
              </p:nvSpPr>
              <p:spPr>
                <a:xfrm>
                  <a:off x="1762125" y="857250"/>
                  <a:ext cx="95400" cy="95400"/>
                </a:xfrm>
                <a:prstGeom prst="ellipse">
                  <a:avLst/>
                </a:prstGeom>
                <a:solidFill>
                  <a:srgbClr val="FF7D6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3"/>
                <p:cNvSpPr txBox="1"/>
                <p:nvPr/>
              </p:nvSpPr>
              <p:spPr>
                <a:xfrm>
                  <a:off x="2381250" y="792480"/>
                  <a:ext cx="282600" cy="9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416">
                      <a:solidFill>
                        <a:srgbClr val="FF7D6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GC_SEC_B</a:t>
                  </a:r>
                  <a:endParaRPr b="1" sz="416">
                    <a:solidFill>
                      <a:srgbClr val="FF7D66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505" name="Google Shape;505;p23"/>
              <p:cNvGrpSpPr/>
              <p:nvPr/>
            </p:nvGrpSpPr>
            <p:grpSpPr>
              <a:xfrm>
                <a:off x="1019175" y="1109663"/>
                <a:ext cx="918075" cy="409650"/>
                <a:chOff x="1019175" y="1109663"/>
                <a:chExt cx="918075" cy="409650"/>
              </a:xfrm>
            </p:grpSpPr>
            <p:pic>
              <p:nvPicPr>
                <p:cNvPr id="506" name="Google Shape;506;p23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1238250" y="1138238"/>
                  <a:ext cx="285900" cy="104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7" name="Google Shape;507;p23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1423988" y="1143000"/>
                  <a:ext cx="1047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8" name="Google Shape;508;p23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1047750" y="1376363"/>
                  <a:ext cx="381000" cy="104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9" name="Google Shape;509;p23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1047750" y="1233488"/>
                  <a:ext cx="190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10" name="Google Shape;510;p23"/>
                <p:cNvSpPr/>
                <p:nvPr/>
              </p:nvSpPr>
              <p:spPr>
                <a:xfrm>
                  <a:off x="1200150" y="1200150"/>
                  <a:ext cx="76200" cy="76200"/>
                </a:xfrm>
                <a:prstGeom prst="ellipse">
                  <a:avLst/>
                </a:prstGeom>
                <a:solidFill>
                  <a:srgbClr val="E07A5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1490663" y="1109663"/>
                  <a:ext cx="66600" cy="66600"/>
                </a:xfrm>
                <a:prstGeom prst="ellipse">
                  <a:avLst/>
                </a:prstGeom>
                <a:solidFill>
                  <a:srgbClr val="E07A5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385888" y="1433513"/>
                  <a:ext cx="85800" cy="85800"/>
                </a:xfrm>
                <a:prstGeom prst="ellipse">
                  <a:avLst/>
                </a:prstGeom>
                <a:solidFill>
                  <a:srgbClr val="E07A5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019175" y="1352550"/>
                  <a:ext cx="57300" cy="57300"/>
                </a:xfrm>
                <a:prstGeom prst="ellipse">
                  <a:avLst/>
                </a:prstGeom>
                <a:solidFill>
                  <a:srgbClr val="E07A5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23"/>
                <p:cNvSpPr txBox="1"/>
                <p:nvPr/>
              </p:nvSpPr>
              <p:spPr>
                <a:xfrm>
                  <a:off x="1619250" y="1125855"/>
                  <a:ext cx="318000" cy="9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450">
                      <a:solidFill>
                        <a:srgbClr val="E07A5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BIO_REF_M</a:t>
                  </a:r>
                  <a:endParaRPr b="1" sz="450">
                    <a:solidFill>
                      <a:srgbClr val="E07A5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15" name="Google Shape;515;p23"/>
            <p:cNvSpPr/>
            <p:nvPr/>
          </p:nvSpPr>
          <p:spPr>
            <a:xfrm>
              <a:off x="4019550" y="142875"/>
              <a:ext cx="952500" cy="619200"/>
            </a:xfrm>
            <a:prstGeom prst="rect">
              <a:avLst/>
            </a:prstGeom>
            <a:solidFill>
              <a:srgbClr val="0A0A0A">
                <a:alpha val="85000"/>
              </a:srgbClr>
            </a:solidFill>
            <a:ln cap="flat" cmpd="sng" w="4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3"/>
            <p:cNvSpPr txBox="1"/>
            <p:nvPr/>
          </p:nvSpPr>
          <p:spPr>
            <a:xfrm>
              <a:off x="4095750" y="236220"/>
              <a:ext cx="497400" cy="1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8">
                  <a:solidFill>
                    <a:srgbClr val="F4F4F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VIEWER PARAMS</a:t>
              </a:r>
              <a:endParaRPr b="1" sz="488">
                <a:solidFill>
                  <a:srgbClr val="F4F4F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7" name="Google Shape;517;p23"/>
            <p:cNvSpPr txBox="1"/>
            <p:nvPr/>
          </p:nvSpPr>
          <p:spPr>
            <a:xfrm>
              <a:off x="4095750" y="358140"/>
              <a:ext cx="550500" cy="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3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TARGET: MURINE_V1</a:t>
              </a:r>
              <a:endParaRPr sz="413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8" name="Google Shape;518;p23"/>
            <p:cNvSpPr txBox="1"/>
            <p:nvPr/>
          </p:nvSpPr>
          <p:spPr>
            <a:xfrm>
              <a:off x="4095750" y="453390"/>
              <a:ext cx="550500" cy="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3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DATA SYNC: ACTIVE</a:t>
              </a:r>
              <a:endParaRPr sz="413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9" name="Google Shape;519;p23"/>
            <p:cNvSpPr txBox="1"/>
            <p:nvPr/>
          </p:nvSpPr>
          <p:spPr>
            <a:xfrm>
              <a:off x="4095750" y="548640"/>
              <a:ext cx="550500" cy="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3">
                  <a:solidFill>
                    <a:srgbClr val="999999"/>
                  </a:solidFill>
                  <a:latin typeface="Inter"/>
                  <a:ea typeface="Inter"/>
                  <a:cs typeface="Inter"/>
                  <a:sym typeface="Inter"/>
                </a:rPr>
                <a:t>OSDR_REF: SEC_402</a:t>
              </a:r>
              <a:endParaRPr sz="413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0" name="Google Shape;520;p23"/>
            <p:cNvSpPr txBox="1"/>
            <p:nvPr/>
          </p:nvSpPr>
          <p:spPr>
            <a:xfrm>
              <a:off x="4095750" y="643890"/>
              <a:ext cx="518100" cy="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2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rPr>
                <a:t>MODE: MULTI-MODE</a:t>
              </a:r>
              <a:endParaRPr sz="382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21" name="Google Shape;521;p23"/>
          <p:cNvSpPr txBox="1"/>
          <p:nvPr/>
        </p:nvSpPr>
        <p:spPr>
          <a:xfrm>
            <a:off x="3619500" y="685800"/>
            <a:ext cx="1905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40">
                <a:solidFill>
                  <a:srgbClr val="9999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SYS.LOC: OSDR-MP-09 // LATERAL_PROJ</a:t>
            </a:r>
            <a:endParaRPr b="0" sz="740">
              <a:solidFill>
                <a:srgbClr val="999999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6781800" y="685800"/>
            <a:ext cx="1905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99999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DATA_MATRIX_SYNCHRONIZED</a:t>
            </a:r>
            <a:endParaRPr b="0" sz="800">
              <a:solidFill>
                <a:srgbClr val="999999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3619500" y="375285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B4D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■ FLT_CYAN</a:t>
            </a:r>
            <a:r>
              <a:rPr b="0" lang="en" sz="8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// </a:t>
            </a:r>
            <a:r>
              <a:rPr b="0" lang="en" sz="800">
                <a:solidFill>
                  <a:srgbClr val="FF7D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■ GC_CORAL</a:t>
            </a:r>
            <a:r>
              <a:rPr b="0" lang="en" sz="8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// </a:t>
            </a:r>
            <a:r>
              <a:rPr b="0" lang="en" sz="800">
                <a:solidFill>
                  <a:srgbClr val="E07A5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■ BIO_CLAY</a:t>
            </a:r>
            <a:endParaRPr b="0" sz="8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6781800" y="375285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RENDER_ENGINE: WebGL2 // 60 FPS</a:t>
            </a:r>
            <a:endParaRPr b="0" sz="8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4"/>
          <p:cNvGrpSpPr/>
          <p:nvPr/>
        </p:nvGrpSpPr>
        <p:grpSpPr>
          <a:xfrm>
            <a:off x="457200" y="495300"/>
            <a:ext cx="228600" cy="152400"/>
            <a:chOff x="0" y="38100"/>
            <a:chExt cx="228600" cy="152400"/>
          </a:xfrm>
        </p:grpSpPr>
        <p:sp>
          <p:nvSpPr>
            <p:cNvPr id="530" name="Google Shape;530;p24"/>
            <p:cNvSpPr/>
            <p:nvPr/>
          </p:nvSpPr>
          <p:spPr>
            <a:xfrm>
              <a:off x="38100" y="3810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1" name="Google Shape;531;p24"/>
            <p:cNvCxnSpPr/>
            <p:nvPr/>
          </p:nvCxnSpPr>
          <p:spPr>
            <a:xfrm>
              <a:off x="0" y="1143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2" name="Google Shape;532;p24"/>
            <p:cNvSpPr/>
            <p:nvPr/>
          </p:nvSpPr>
          <p:spPr>
            <a:xfrm>
              <a:off x="95250" y="95250"/>
              <a:ext cx="38100" cy="38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33" name="Google Shape;533;p24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4" name="Google Shape;534;p24"/>
          <p:cNvGrpSpPr/>
          <p:nvPr/>
        </p:nvGrpSpPr>
        <p:grpSpPr>
          <a:xfrm>
            <a:off x="419100" y="4648200"/>
            <a:ext cx="76200" cy="76200"/>
            <a:chOff x="-38100" y="-38100"/>
            <a:chExt cx="76200" cy="76200"/>
          </a:xfrm>
        </p:grpSpPr>
        <p:cxnSp>
          <p:nvCxnSpPr>
            <p:cNvPr id="535" name="Google Shape;535;p24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24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37" name="Google Shape;537;p24"/>
          <p:cNvGrpSpPr/>
          <p:nvPr/>
        </p:nvGrpSpPr>
        <p:grpSpPr>
          <a:xfrm>
            <a:off x="8648700" y="4648200"/>
            <a:ext cx="76200" cy="76200"/>
            <a:chOff x="-38100" y="-38100"/>
            <a:chExt cx="76200" cy="76200"/>
          </a:xfrm>
        </p:grpSpPr>
        <p:cxnSp>
          <p:nvCxnSpPr>
            <p:cNvPr id="538" name="Google Shape;538;p24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24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0" name="Google Shape;540;p24"/>
          <p:cNvSpPr txBox="1"/>
          <p:nvPr/>
        </p:nvSpPr>
        <p:spPr>
          <a:xfrm>
            <a:off x="7258050" y="381000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rPr>
              <a:t>ORBITING MINDS</a:t>
            </a:r>
            <a:endParaRPr b="0" sz="850">
              <a:solidFill>
                <a:srgbClr val="99999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41" name="Google Shape;541;p24"/>
          <p:cNvSpPr txBox="1"/>
          <p:nvPr/>
        </p:nvSpPr>
        <p:spPr>
          <a:xfrm>
            <a:off x="457200" y="1095375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24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Multi-mode interactive inspection of the neural proxy</a:t>
            </a:r>
            <a:endParaRPr b="0" sz="24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542" name="Google Shape;542;p24"/>
          <p:cNvGrpSpPr/>
          <p:nvPr/>
        </p:nvGrpSpPr>
        <p:grpSpPr>
          <a:xfrm>
            <a:off x="457200" y="2000250"/>
            <a:ext cx="1571700" cy="2438400"/>
            <a:chOff x="0" y="0"/>
            <a:chExt cx="1571700" cy="2438400"/>
          </a:xfrm>
        </p:grpSpPr>
        <p:cxnSp>
          <p:nvCxnSpPr>
            <p:cNvPr id="543" name="Google Shape;543;p24"/>
            <p:cNvCxnSpPr/>
            <p:nvPr/>
          </p:nvCxnSpPr>
          <p:spPr>
            <a:xfrm>
              <a:off x="0" y="0"/>
              <a:ext cx="1571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4" name="Google Shape;544;p24"/>
            <p:cNvSpPr txBox="1"/>
            <p:nvPr/>
          </p:nvSpPr>
          <p:spPr>
            <a:xfrm>
              <a:off x="0" y="152400"/>
              <a:ext cx="1571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01 // PRESENTATION</a:t>
              </a:r>
              <a:endParaRPr b="0"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Offers a clean, cinematic scene tailored for high-level technical storytelling and clear overview.</a:t>
              </a:r>
              <a:endParaRPr b="0" sz="10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545" name="Google Shape;545;p24"/>
          <p:cNvGrpSpPr/>
          <p:nvPr/>
        </p:nvGrpSpPr>
        <p:grpSpPr>
          <a:xfrm>
            <a:off x="2333625" y="2000250"/>
            <a:ext cx="1571700" cy="2438400"/>
            <a:chOff x="0" y="0"/>
            <a:chExt cx="1571700" cy="2438400"/>
          </a:xfrm>
        </p:grpSpPr>
        <p:cxnSp>
          <p:nvCxnSpPr>
            <p:cNvPr id="546" name="Google Shape;546;p24"/>
            <p:cNvCxnSpPr/>
            <p:nvPr/>
          </p:nvCxnSpPr>
          <p:spPr>
            <a:xfrm>
              <a:off x="0" y="0"/>
              <a:ext cx="1571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7" name="Google Shape;547;p24"/>
            <p:cNvSpPr txBox="1"/>
            <p:nvPr/>
          </p:nvSpPr>
          <p:spPr>
            <a:xfrm>
              <a:off x="0" y="152400"/>
              <a:ext cx="1571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02 // ANNOTATED</a:t>
              </a:r>
              <a:endParaRPr b="0" sz="85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Highlights selected anatomical and telemetry hotspots with context to connect structural locations to real-time metrics.</a:t>
              </a:r>
              <a:endParaRPr b="0" sz="10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548" name="Google Shape;548;p24"/>
          <p:cNvGrpSpPr/>
          <p:nvPr/>
        </p:nvGrpSpPr>
        <p:grpSpPr>
          <a:xfrm>
            <a:off x="4210050" y="2000250"/>
            <a:ext cx="1571700" cy="2438400"/>
            <a:chOff x="0" y="0"/>
            <a:chExt cx="1571700" cy="2438400"/>
          </a:xfrm>
        </p:grpSpPr>
        <p:cxnSp>
          <p:nvCxnSpPr>
            <p:cNvPr id="549" name="Google Shape;549;p24"/>
            <p:cNvCxnSpPr/>
            <p:nvPr/>
          </p:nvCxnSpPr>
          <p:spPr>
            <a:xfrm>
              <a:off x="0" y="0"/>
              <a:ext cx="1571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F7D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0" name="Google Shape;550;p24"/>
            <p:cNvSpPr txBox="1"/>
            <p:nvPr/>
          </p:nvSpPr>
          <p:spPr>
            <a:xfrm>
              <a:off x="0" y="152400"/>
              <a:ext cx="1571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7D6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 // DIAGNOSTIC</a:t>
              </a:r>
              <a:endParaRPr b="0" sz="85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Allows for detailed, procedural wireframe and topology inspection of the underlying spatial framework.</a:t>
              </a:r>
              <a:endParaRPr b="0" sz="10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551" name="Google Shape;551;p24"/>
          <p:cNvCxnSpPr/>
          <p:nvPr/>
        </p:nvCxnSpPr>
        <p:spPr>
          <a:xfrm>
            <a:off x="6000750" y="1905000"/>
            <a:ext cx="0" cy="2571900"/>
          </a:xfrm>
          <a:prstGeom prst="straightConnector1">
            <a:avLst/>
          </a:prstGeom>
          <a:solidFill>
            <a:srgbClr val="FFFFFF"/>
          </a:solidFill>
          <a:ln cap="flat" cmpd="sng" w="47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2" name="Google Shape;552;p24"/>
          <p:cNvGrpSpPr/>
          <p:nvPr/>
        </p:nvGrpSpPr>
        <p:grpSpPr>
          <a:xfrm>
            <a:off x="6248400" y="1905000"/>
            <a:ext cx="2438400" cy="2571900"/>
            <a:chOff x="0" y="0"/>
            <a:chExt cx="2438400" cy="2571900"/>
          </a:xfrm>
        </p:grpSpPr>
        <p:sp>
          <p:nvSpPr>
            <p:cNvPr id="553" name="Google Shape;553;p24"/>
            <p:cNvSpPr/>
            <p:nvPr/>
          </p:nvSpPr>
          <p:spPr>
            <a:xfrm>
              <a:off x="0" y="0"/>
              <a:ext cx="2438400" cy="25719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4"/>
            <p:cNvSpPr txBox="1"/>
            <p:nvPr/>
          </p:nvSpPr>
          <p:spPr>
            <a:xfrm>
              <a:off x="152400" y="152400"/>
              <a:ext cx="2133600" cy="22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B70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EVIDENCE DRAWER</a:t>
              </a:r>
              <a:endParaRPr b="0" sz="850">
                <a:solidFill>
                  <a:srgbClr val="FFB70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4F4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Analytic Verification</a:t>
              </a:r>
              <a:endParaRPr b="0" sz="11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Ensures literal PCA and QC graphics remain available for direct verification inside the interactive workspace.</a:t>
              </a:r>
              <a:endParaRPr b="0" sz="9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1" lang="en" sz="85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* Note: The PCA constellation is graph-derived and does not represent a spatial anatomy map.</a:t>
              </a:r>
              <a:endParaRPr b="0" i="1" sz="8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0" name="Google Shape;560;p25"/>
          <p:cNvGrpSpPr/>
          <p:nvPr/>
        </p:nvGrpSpPr>
        <p:grpSpPr>
          <a:xfrm>
            <a:off x="457200" y="457200"/>
            <a:ext cx="228600" cy="152400"/>
            <a:chOff x="0" y="38100"/>
            <a:chExt cx="228600" cy="152400"/>
          </a:xfrm>
        </p:grpSpPr>
        <p:sp>
          <p:nvSpPr>
            <p:cNvPr id="561" name="Google Shape;561;p25"/>
            <p:cNvSpPr/>
            <p:nvPr/>
          </p:nvSpPr>
          <p:spPr>
            <a:xfrm>
              <a:off x="38100" y="3810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62" name="Google Shape;562;p25"/>
            <p:cNvCxnSpPr/>
            <p:nvPr/>
          </p:nvCxnSpPr>
          <p:spPr>
            <a:xfrm>
              <a:off x="0" y="1143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3" name="Google Shape;563;p25"/>
            <p:cNvSpPr/>
            <p:nvPr/>
          </p:nvSpPr>
          <p:spPr>
            <a:xfrm>
              <a:off x="95250" y="95250"/>
              <a:ext cx="38100" cy="38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64" name="Google Shape;564;p25"/>
          <p:cNvCxnSpPr/>
          <p:nvPr/>
        </p:nvCxnSpPr>
        <p:spPr>
          <a:xfrm>
            <a:off x="457200" y="8001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p25"/>
          <p:cNvSpPr txBox="1"/>
          <p:nvPr/>
        </p:nvSpPr>
        <p:spPr>
          <a:xfrm>
            <a:off x="6781800" y="3810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850">
                <a:solidFill>
                  <a:srgbClr val="9999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ORBITING MINDS</a:t>
            </a:r>
            <a:endParaRPr b="0" sz="850">
              <a:solidFill>
                <a:srgbClr val="99999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66" name="Google Shape;566;p25"/>
          <p:cNvGrpSpPr/>
          <p:nvPr/>
        </p:nvGrpSpPr>
        <p:grpSpPr>
          <a:xfrm>
            <a:off x="419100" y="4648200"/>
            <a:ext cx="76200" cy="76200"/>
            <a:chOff x="-38100" y="-38100"/>
            <a:chExt cx="76200" cy="76200"/>
          </a:xfrm>
        </p:grpSpPr>
        <p:cxnSp>
          <p:nvCxnSpPr>
            <p:cNvPr id="567" name="Google Shape;567;p2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2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9" name="Google Shape;569;p25"/>
          <p:cNvGrpSpPr/>
          <p:nvPr/>
        </p:nvGrpSpPr>
        <p:grpSpPr>
          <a:xfrm>
            <a:off x="8648700" y="4648200"/>
            <a:ext cx="76200" cy="76200"/>
            <a:chOff x="-38100" y="-38100"/>
            <a:chExt cx="76200" cy="76200"/>
          </a:xfrm>
        </p:grpSpPr>
        <p:cxnSp>
          <p:nvCxnSpPr>
            <p:cNvPr id="570" name="Google Shape;570;p2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2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2" name="Google Shape;572;p25"/>
          <p:cNvSpPr txBox="1"/>
          <p:nvPr/>
        </p:nvSpPr>
        <p:spPr>
          <a:xfrm>
            <a:off x="457200" y="990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87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Technical evidence and creative communication can reinforce each other</a:t>
            </a:r>
            <a:endParaRPr b="0" sz="187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573" name="Google Shape;573;p25"/>
          <p:cNvGrpSpPr/>
          <p:nvPr/>
        </p:nvGrpSpPr>
        <p:grpSpPr>
          <a:xfrm>
            <a:off x="457200" y="1714500"/>
            <a:ext cx="3924300" cy="1905000"/>
            <a:chOff x="457200" y="1714500"/>
            <a:chExt cx="3924300" cy="1905000"/>
          </a:xfrm>
        </p:grpSpPr>
        <p:sp>
          <p:nvSpPr>
            <p:cNvPr id="574" name="Google Shape;574;p25"/>
            <p:cNvSpPr/>
            <p:nvPr/>
          </p:nvSpPr>
          <p:spPr>
            <a:xfrm>
              <a:off x="457200" y="1714500"/>
              <a:ext cx="38100" cy="2286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5"/>
            <p:cNvSpPr txBox="1"/>
            <p:nvPr/>
          </p:nvSpPr>
          <p:spPr>
            <a:xfrm>
              <a:off x="647700" y="1714500"/>
              <a:ext cx="3733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B4D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 // ANALYTICAL VIEWPORT</a:t>
              </a:r>
              <a:endParaRPr b="0" sz="850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4F4F0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Technical Benchmark</a:t>
              </a:r>
              <a:endParaRPr b="0" sz="1400">
                <a:solidFill>
                  <a:srgbClr val="F4F4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A rigorous, data-linked repository designed for scientific validation and reproducibility.</a:t>
              </a:r>
              <a:endParaRPr b="0" sz="1100">
                <a:solidFill>
                  <a:srgbClr val="F4F4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Reproducible Pipeline: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Built on a standardized, open-source workflow.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Evidence Drawer: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Interactive, fully structured data tables.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Strict Boundaries: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Explicit annotations of analytical limits.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576" name="Google Shape;576;p25"/>
          <p:cNvGrpSpPr/>
          <p:nvPr/>
        </p:nvGrpSpPr>
        <p:grpSpPr>
          <a:xfrm>
            <a:off x="4724400" y="1714500"/>
            <a:ext cx="3962400" cy="1905000"/>
            <a:chOff x="4724400" y="1714500"/>
            <a:chExt cx="3962400" cy="1905000"/>
          </a:xfrm>
        </p:grpSpPr>
        <p:sp>
          <p:nvSpPr>
            <p:cNvPr id="577" name="Google Shape;577;p25"/>
            <p:cNvSpPr/>
            <p:nvPr/>
          </p:nvSpPr>
          <p:spPr>
            <a:xfrm>
              <a:off x="4724400" y="1714500"/>
              <a:ext cx="38100" cy="228600"/>
            </a:xfrm>
            <a:prstGeom prst="rect">
              <a:avLst/>
            </a:prstGeom>
            <a:solidFill>
              <a:srgbClr val="FF5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5"/>
            <p:cNvSpPr txBox="1"/>
            <p:nvPr/>
          </p:nvSpPr>
          <p:spPr>
            <a:xfrm>
              <a:off x="4914900" y="1714500"/>
              <a:ext cx="37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54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 // NARRATIVE VIEWPORT</a:t>
              </a:r>
              <a:endParaRPr b="0" sz="850">
                <a:solidFill>
                  <a:srgbClr val="FF54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4F4F0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Media Companion</a:t>
              </a:r>
              <a:endParaRPr b="0" sz="1400">
                <a:solidFill>
                  <a:srgbClr val="F4F4F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A premium, human-readable editorial layer crafted for multidisciplinary engagement.</a:t>
              </a:r>
              <a:endParaRPr b="0" sz="1100">
                <a:solidFill>
                  <a:srgbClr val="F4F4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Character-Led Journey: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Guided onboarding and storytelling.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Premium Visual Identity: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High-end editorial layouts and graphics.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F4F4F0"/>
                  </a:solidFill>
                  <a:latin typeface="Inter"/>
                  <a:ea typeface="Inter"/>
                  <a:cs typeface="Inter"/>
                  <a:sym typeface="Inter"/>
                </a:rPr>
                <a:t>Creative Narratives:</a:t>
              </a: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Clearly labeled, contextual explanations.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579" name="Google Shape;579;p25"/>
          <p:cNvCxnSpPr/>
          <p:nvPr/>
        </p:nvCxnSpPr>
        <p:spPr>
          <a:xfrm>
            <a:off x="457200" y="38100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0" name="Google Shape;580;p25"/>
          <p:cNvGrpSpPr/>
          <p:nvPr/>
        </p:nvGrpSpPr>
        <p:grpSpPr>
          <a:xfrm>
            <a:off x="457200" y="3962400"/>
            <a:ext cx="8229600" cy="571500"/>
            <a:chOff x="457200" y="3962400"/>
            <a:chExt cx="8229600" cy="571500"/>
          </a:xfrm>
        </p:grpSpPr>
        <p:sp>
          <p:nvSpPr>
            <p:cNvPr id="581" name="Google Shape;581;p25"/>
            <p:cNvSpPr/>
            <p:nvPr/>
          </p:nvSpPr>
          <p:spPr>
            <a:xfrm>
              <a:off x="457200" y="3962400"/>
              <a:ext cx="19200" cy="457200"/>
            </a:xfrm>
            <a:prstGeom prst="rect">
              <a:avLst/>
            </a:prstGeom>
            <a:solidFill>
              <a:srgbClr val="CB997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5"/>
            <p:cNvSpPr txBox="1"/>
            <p:nvPr/>
          </p:nvSpPr>
          <p:spPr>
            <a:xfrm>
              <a:off x="609600" y="3962400"/>
              <a:ext cx="80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997E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“One shared project architecture; two distinct modes of understanding.”</a:t>
              </a:r>
              <a:endParaRPr b="0" sz="1300">
                <a:solidFill>
                  <a:srgbClr val="CB997E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999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Together, they bridge the gap between rigorous, complex biological data and intuitive, accessible communication.</a:t>
              </a:r>
              <a:endParaRPr b="0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26"/>
          <p:cNvGrpSpPr/>
          <p:nvPr/>
        </p:nvGrpSpPr>
        <p:grpSpPr>
          <a:xfrm>
            <a:off x="190500" y="190500"/>
            <a:ext cx="76200" cy="76200"/>
            <a:chOff x="-38100" y="-38100"/>
            <a:chExt cx="76200" cy="76200"/>
          </a:xfrm>
        </p:grpSpPr>
        <p:cxnSp>
          <p:nvCxnSpPr>
            <p:cNvPr id="588" name="Google Shape;588;p2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2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0" name="Google Shape;590;p26"/>
          <p:cNvGrpSpPr/>
          <p:nvPr/>
        </p:nvGrpSpPr>
        <p:grpSpPr>
          <a:xfrm>
            <a:off x="8877300" y="190500"/>
            <a:ext cx="76200" cy="76200"/>
            <a:chOff x="-38100" y="-38100"/>
            <a:chExt cx="76200" cy="76200"/>
          </a:xfrm>
        </p:grpSpPr>
        <p:cxnSp>
          <p:nvCxnSpPr>
            <p:cNvPr id="591" name="Google Shape;591;p2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2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3" name="Google Shape;593;p26"/>
          <p:cNvGrpSpPr/>
          <p:nvPr/>
        </p:nvGrpSpPr>
        <p:grpSpPr>
          <a:xfrm>
            <a:off x="190500" y="4876800"/>
            <a:ext cx="76200" cy="76200"/>
            <a:chOff x="-38100" y="-38100"/>
            <a:chExt cx="76200" cy="76200"/>
          </a:xfrm>
        </p:grpSpPr>
        <p:cxnSp>
          <p:nvCxnSpPr>
            <p:cNvPr id="594" name="Google Shape;594;p2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2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6" name="Google Shape;596;p26"/>
          <p:cNvGrpSpPr/>
          <p:nvPr/>
        </p:nvGrpSpPr>
        <p:grpSpPr>
          <a:xfrm>
            <a:off x="8877300" y="4876800"/>
            <a:ext cx="76200" cy="76200"/>
            <a:chOff x="-38100" y="-38100"/>
            <a:chExt cx="76200" cy="76200"/>
          </a:xfrm>
        </p:grpSpPr>
        <p:cxnSp>
          <p:nvCxnSpPr>
            <p:cNvPr id="597" name="Google Shape;597;p26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6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47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9" name="Google Shape;599;p26"/>
          <p:cNvGrpSpPr/>
          <p:nvPr/>
        </p:nvGrpSpPr>
        <p:grpSpPr>
          <a:xfrm>
            <a:off x="457200" y="428625"/>
            <a:ext cx="8229650" cy="3905400"/>
            <a:chOff x="0" y="0"/>
            <a:chExt cx="8229650" cy="3905400"/>
          </a:xfrm>
        </p:grpSpPr>
        <p:sp>
          <p:nvSpPr>
            <p:cNvPr id="600" name="Google Shape;600;p26"/>
            <p:cNvSpPr/>
            <p:nvPr/>
          </p:nvSpPr>
          <p:spPr>
            <a:xfrm>
              <a:off x="50" y="0"/>
              <a:ext cx="8229600" cy="3905400"/>
            </a:xfrm>
            <a:prstGeom prst="rect">
              <a:avLst/>
            </a:prstGeom>
            <a:solidFill>
              <a:srgbClr val="141414"/>
            </a:solidFill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1" name="Google Shape;601;p26"/>
            <p:cNvPicPr preferRelativeResize="0"/>
            <p:nvPr/>
          </p:nvPicPr>
          <p:blipFill rotWithShape="1">
            <a:blip r:embed="rId3">
              <a:alphaModFix/>
            </a:blip>
            <a:srcRect b="3358" l="0" r="0" t="3358"/>
            <a:stretch/>
          </p:blipFill>
          <p:spPr>
            <a:xfrm>
              <a:off x="0" y="1947863"/>
              <a:ext cx="8191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26"/>
            <p:cNvPicPr preferRelativeResize="0"/>
            <p:nvPr/>
          </p:nvPicPr>
          <p:blipFill rotWithShape="1">
            <a:blip r:embed="rId4">
              <a:alphaModFix/>
            </a:blip>
            <a:srcRect b="4816" l="0" r="0" t="4825"/>
            <a:stretch/>
          </p:blipFill>
          <p:spPr>
            <a:xfrm>
              <a:off x="4110038" y="0"/>
              <a:ext cx="9600" cy="38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26"/>
            <p:cNvSpPr/>
            <p:nvPr/>
          </p:nvSpPr>
          <p:spPr>
            <a:xfrm>
              <a:off x="142875" y="142875"/>
              <a:ext cx="142800" cy="142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/>
            </a:solidFill>
            <a:ln cap="flat" cmpd="sng" w="14300">
              <a:solidFill>
                <a:srgbClr val="FF5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7943850" y="142875"/>
              <a:ext cx="142800" cy="1428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cap="flat" cmpd="sng" w="14300">
              <a:solidFill>
                <a:srgbClr val="FF5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142875" y="3619500"/>
              <a:ext cx="1428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/>
            </a:solidFill>
            <a:ln cap="flat" cmpd="sng" w="14300">
              <a:solidFill>
                <a:srgbClr val="FF5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7943850" y="3619500"/>
              <a:ext cx="142800" cy="1428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120000" y="0"/>
                  </a:lnTo>
                  <a:moveTo>
                    <a:pt x="120000" y="120000"/>
                  </a:moveTo>
                  <a:lnTo>
                    <a:pt x="0" y="120000"/>
                  </a:lnTo>
                </a:path>
              </a:pathLst>
            </a:custGeom>
            <a:solidFill>
              <a:srgbClr val="000000"/>
            </a:solidFill>
            <a:ln cap="flat" cmpd="sng" w="14300">
              <a:solidFill>
                <a:srgbClr val="FF5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6"/>
            <p:cNvSpPr txBox="1"/>
            <p:nvPr/>
          </p:nvSpPr>
          <p:spPr>
            <a:xfrm>
              <a:off x="381000" y="333375"/>
              <a:ext cx="74676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33" u="none" strike="noStrike">
                  <a:solidFill>
                    <a:srgbClr val="FF5400"/>
                  </a:solidFill>
                  <a:latin typeface="Inter"/>
                  <a:ea typeface="Inter"/>
                  <a:cs typeface="Inter"/>
                  <a:sym typeface="Inter"/>
                </a:rPr>
                <a:t>NOT SCIENTIFIC EVIDENCE</a:t>
              </a:r>
              <a:endParaRPr b="1" i="0" sz="833" u="none" strike="noStrike">
                <a:solidFill>
                  <a:srgbClr val="FF54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0" lang="en" sz="1850" u="none" strike="noStrike">
                  <a:solidFill>
                    <a:srgbClr val="F4F4F0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Commander Pip: Zero-G Odyssey — Cinematic Media Companion</a:t>
              </a:r>
              <a:endParaRPr b="1" i="0" sz="833" u="none" strike="noStrike">
                <a:solidFill>
                  <a:srgbClr val="FF54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8" name="Google Shape;608;p26"/>
            <p:cNvSpPr txBox="1"/>
            <p:nvPr/>
          </p:nvSpPr>
          <p:spPr>
            <a:xfrm>
              <a:off x="381000" y="3190875"/>
              <a:ext cx="74676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i="0" lang="en" sz="1050" u="none" strike="noStrike">
                  <a:solidFill>
                    <a:srgbClr val="888888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This is a stylized narrative experience inspired by the RR-10 mission context, separate from technical benchmark visualizations to provide public storytelling.</a:t>
              </a:r>
              <a:endParaRPr b="0" i="0" sz="1050" u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609" name="Google Shape;60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000" y="1400000"/>
            <a:ext cx="3500000" cy="19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6"/>
          <p:cNvSpPr txBox="1"/>
          <p:nvPr/>
        </p:nvSpPr>
        <p:spPr>
          <a:xfrm>
            <a:off x="4600000" y="1400000"/>
            <a:ext cx="38001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CHARACTER &amp; HABITAT ARCHITECTURE</a:t>
            </a:r>
            <a:endParaRPr sz="850">
              <a:solidFill>
                <a:srgbClr val="00B4D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A stylized astronaut-mouse narrative inside a zero-G orbital habitat, modeled with real-time PBR shaders and web-optimized geometry in Blender.</a:t>
            </a:r>
            <a:endParaRPr sz="9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EVA Spacesuit: </a:t>
            </a:r>
            <a:r>
              <a:rPr lang="en" sz="8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Matte-white insulated fabric, 4-point orange cross-harness</a:t>
            </a:r>
            <a:endParaRPr sz="85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Bubble Visor: </a:t>
            </a:r>
            <a:r>
              <a:rPr lang="en" sz="8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Ultra-wide optical glass with warm-gold reflective sheen</a:t>
            </a:r>
            <a:endParaRPr sz="85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Attitude Stabilizer: </a:t>
            </a:r>
            <a:r>
              <a:rPr lang="en" sz="8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5-segment articulated tail with T-wing micro-thruster</a:t>
            </a:r>
            <a:endParaRPr sz="85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Habitat Staging: </a:t>
            </a:r>
            <a:r>
              <a:rPr lang="en" sz="8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Zero-G floating nutrient orbs &amp; Earth-horizon orbital glow</a:t>
            </a:r>
            <a:endParaRPr sz="85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2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16" name="Google Shape;616;p2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7" name="Google Shape;617;p27"/>
            <p:cNvGrpSpPr/>
            <p:nvPr/>
          </p:nvGrpSpPr>
          <p:grpSpPr>
            <a:xfrm>
              <a:off x="457200" y="495300"/>
              <a:ext cx="228600" cy="152400"/>
              <a:chOff x="0" y="38100"/>
              <a:chExt cx="228600" cy="152400"/>
            </a:xfrm>
          </p:grpSpPr>
          <p:sp>
            <p:nvSpPr>
              <p:cNvPr id="618" name="Google Shape;618;p27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19" name="Google Shape;619;p27"/>
              <p:cNvCxnSpPr/>
              <p:nvPr/>
            </p:nvCxnSpPr>
            <p:spPr>
              <a:xfrm>
                <a:off x="0" y="114300"/>
                <a:ext cx="228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F4F4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20" name="Google Shape;620;p27"/>
              <p:cNvSpPr/>
              <p:nvPr/>
            </p:nvSpPr>
            <p:spPr>
              <a:xfrm>
                <a:off x="95250" y="95250"/>
                <a:ext cx="38100" cy="38100"/>
              </a:xfrm>
              <a:prstGeom prst="ellipse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21" name="Google Shape;621;p27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22" name="Google Shape;622;p27"/>
            <p:cNvGrpSpPr/>
            <p:nvPr/>
          </p:nvGrpSpPr>
          <p:grpSpPr>
            <a:xfrm>
              <a:off x="419100" y="4648200"/>
              <a:ext cx="76200" cy="76200"/>
              <a:chOff x="-38100" y="-38100"/>
              <a:chExt cx="76200" cy="76200"/>
            </a:xfrm>
          </p:grpSpPr>
          <p:cxnSp>
            <p:nvCxnSpPr>
              <p:cNvPr id="623" name="Google Shape;623;p2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5" name="Google Shape;625;p27"/>
            <p:cNvGrpSpPr/>
            <p:nvPr/>
          </p:nvGrpSpPr>
          <p:grpSpPr>
            <a:xfrm>
              <a:off x="8648700" y="4648200"/>
              <a:ext cx="76200" cy="76200"/>
              <a:chOff x="-38100" y="-38100"/>
              <a:chExt cx="76200" cy="76200"/>
            </a:xfrm>
          </p:grpSpPr>
          <p:cxnSp>
            <p:nvCxnSpPr>
              <p:cNvPr id="626" name="Google Shape;626;p2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477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28" name="Google Shape;628;p27"/>
            <p:cNvSpPr txBox="1"/>
            <p:nvPr/>
          </p:nvSpPr>
          <p:spPr>
            <a:xfrm>
              <a:off x="7258050" y="3810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99999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ORBITING MINDS</a:t>
              </a:r>
              <a:endParaRPr b="0" sz="850">
                <a:solidFill>
                  <a:srgbClr val="99999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629" name="Google Shape;629;p27"/>
          <p:cNvSpPr txBox="1"/>
          <p:nvPr/>
        </p:nvSpPr>
        <p:spPr>
          <a:xfrm>
            <a:off x="457200" y="1066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2000">
                <a:solidFill>
                  <a:srgbClr val="F4F4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Citation, Responsible Reuse, &amp; Resources</a:t>
            </a:r>
            <a:endParaRPr b="0" sz="2000">
              <a:solidFill>
                <a:srgbClr val="F4F4F0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630" name="Google Shape;630;p27"/>
          <p:cNvGrpSpPr/>
          <p:nvPr/>
        </p:nvGrpSpPr>
        <p:grpSpPr>
          <a:xfrm>
            <a:off x="457200" y="1571625"/>
            <a:ext cx="2381400" cy="1047900"/>
            <a:chOff x="0" y="0"/>
            <a:chExt cx="2381400" cy="1047900"/>
          </a:xfrm>
        </p:grpSpPr>
        <p:cxnSp>
          <p:nvCxnSpPr>
            <p:cNvPr id="631" name="Google Shape;631;p27"/>
            <p:cNvCxnSpPr/>
            <p:nvPr/>
          </p:nvCxnSpPr>
          <p:spPr>
            <a:xfrm>
              <a:off x="0" y="0"/>
              <a:ext cx="2381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2" name="Google Shape;632;p27"/>
            <p:cNvSpPr txBox="1"/>
            <p:nvPr/>
          </p:nvSpPr>
          <p:spPr>
            <a:xfrm>
              <a:off x="0" y="114300"/>
              <a:ext cx="23814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01 // NASA OSDR / RR-10</a:t>
              </a:r>
              <a:endParaRPr b="0" sz="85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NASA OSDR RR-10 Studies (OSD-563 / OSD-564) original repository records.</a:t>
              </a:r>
              <a:endParaRPr b="0" sz="10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uFill>
                    <a:noFill/>
                  </a:uFill>
                  <a:latin typeface="Inter Medium"/>
                  <a:ea typeface="Inter Medium"/>
                  <a:cs typeface="Inter Medium"/>
                  <a:sym typeface="Inter Medium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osdr.nasa.gov</a:t>
              </a:r>
              <a:endParaRPr b="0" sz="95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633" name="Google Shape;633;p27"/>
          <p:cNvGrpSpPr/>
          <p:nvPr/>
        </p:nvGrpSpPr>
        <p:grpSpPr>
          <a:xfrm>
            <a:off x="3381375" y="1571625"/>
            <a:ext cx="2381400" cy="1047900"/>
            <a:chOff x="0" y="0"/>
            <a:chExt cx="2381400" cy="1047900"/>
          </a:xfrm>
        </p:grpSpPr>
        <p:cxnSp>
          <p:nvCxnSpPr>
            <p:cNvPr id="634" name="Google Shape;634;p27"/>
            <p:cNvCxnSpPr/>
            <p:nvPr/>
          </p:nvCxnSpPr>
          <p:spPr>
            <a:xfrm>
              <a:off x="0" y="0"/>
              <a:ext cx="2381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5" name="Google Shape;635;p27"/>
            <p:cNvSpPr txBox="1"/>
            <p:nvPr/>
          </p:nvSpPr>
          <p:spPr>
            <a:xfrm>
              <a:off x="0" y="114300"/>
              <a:ext cx="23814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02 // KAGGLE DATASETS</a:t>
              </a:r>
              <a:endParaRPr sz="85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Processed space-flight transcriptomic datasets &amp; analytics notebooks.</a:t>
              </a:r>
              <a:endParaRPr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u="sng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kaggle.com/benchmarks/.../rr-10-benchmark</a:t>
              </a:r>
              <a:endParaRPr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850" u="sng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kaggle.com/code/.../rr-10-spaceflight-mice</a:t>
              </a:r>
              <a:endParaRPr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6" name="Google Shape;636;p27"/>
          <p:cNvGrpSpPr/>
          <p:nvPr/>
        </p:nvGrpSpPr>
        <p:grpSpPr>
          <a:xfrm>
            <a:off x="6305550" y="1571625"/>
            <a:ext cx="2381400" cy="1047900"/>
            <a:chOff x="0" y="0"/>
            <a:chExt cx="2381400" cy="1047900"/>
          </a:xfrm>
        </p:grpSpPr>
        <p:cxnSp>
          <p:nvCxnSpPr>
            <p:cNvPr id="637" name="Google Shape;637;p27"/>
            <p:cNvCxnSpPr/>
            <p:nvPr/>
          </p:nvCxnSpPr>
          <p:spPr>
            <a:xfrm>
              <a:off x="0" y="0"/>
              <a:ext cx="2381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27"/>
            <p:cNvSpPr txBox="1"/>
            <p:nvPr/>
          </p:nvSpPr>
          <p:spPr>
            <a:xfrm>
              <a:off x="0" y="114300"/>
              <a:ext cx="23814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00B4D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03 // COMMUNITY &amp; DEV</a:t>
              </a:r>
              <a:endParaRPr sz="850">
                <a:solidFill>
                  <a:srgbClr val="00B4D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4F4F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Interactive benchmark proxy, code repository, and deployment.</a:t>
              </a:r>
              <a:endParaRPr sz="100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u="sng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orbiting-minds.vercel.app</a:t>
              </a:r>
              <a:endParaRPr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850" u="sng">
                  <a:solidFill>
                    <a:srgbClr val="E07A5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github.com/.../blender-simulator</a:t>
              </a:r>
              <a:endParaRPr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639" name="Google Shape;639;p27"/>
          <p:cNvSpPr/>
          <p:nvPr/>
        </p:nvSpPr>
        <p:spPr>
          <a:xfrm>
            <a:off x="457200" y="2714625"/>
            <a:ext cx="8229600" cy="18096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7"/>
          <p:cNvSpPr txBox="1"/>
          <p:nvPr/>
        </p:nvSpPr>
        <p:spPr>
          <a:xfrm>
            <a:off x="685800" y="2905125"/>
            <a:ext cx="3619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CITATION</a:t>
            </a:r>
            <a:endParaRPr b="0" sz="85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4F4F0"/>
                </a:solidFill>
                <a:latin typeface="Space Grotesk"/>
                <a:ea typeface="Space Grotesk"/>
                <a:cs typeface="Space Grotesk"/>
                <a:sym typeface="Space Grotesk"/>
              </a:rPr>
              <a:t>Gaston Dana. "Orbiting Minds" (GitHub, 2026)</a:t>
            </a:r>
            <a:endParaRPr b="0" sz="1300">
              <a:solidFill>
                <a:srgbClr val="F4F4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Please cite this resource alongside the original NASA OSDR/GeneLab repository records for downstream applications and analytical replication.</a:t>
            </a:r>
            <a:endParaRPr b="0" sz="10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900"/>
              </a:spcBef>
              <a:spcAft>
                <a:spcPts val="450"/>
              </a:spcAft>
              <a:buNone/>
            </a:pPr>
            <a:r>
              <a:rPr b="1" lang="en" sz="1000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Presenter Contact: </a:t>
            </a:r>
            <a:r>
              <a:rPr lang="en" sz="1000" u="sng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Gaston Dana via GitHub</a:t>
            </a:r>
            <a:r>
              <a:rPr lang="en" sz="10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 • </a:t>
            </a:r>
            <a:r>
              <a:rPr lang="en" sz="1000" u="sng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Scholar</a:t>
            </a:r>
            <a:endParaRPr sz="100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641" name="Google Shape;641;p27"/>
          <p:cNvCxnSpPr/>
          <p:nvPr/>
        </p:nvCxnSpPr>
        <p:spPr>
          <a:xfrm>
            <a:off x="4572000" y="2905125"/>
            <a:ext cx="0" cy="1428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27"/>
          <p:cNvSpPr txBox="1"/>
          <p:nvPr/>
        </p:nvSpPr>
        <p:spPr>
          <a:xfrm>
            <a:off x="4800600" y="2905125"/>
            <a:ext cx="3619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E07A5F"/>
                </a:solidFill>
                <a:latin typeface="Inter Medium"/>
                <a:ea typeface="Inter Medium"/>
                <a:cs typeface="Inter Medium"/>
                <a:sym typeface="Inter Medium"/>
              </a:rPr>
              <a:t>RESPONSIBLE REUSE &amp; LIMITATIONS</a:t>
            </a:r>
            <a:endParaRPr b="0" sz="850">
              <a:solidFill>
                <a:srgbClr val="E07A5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• </a:t>
            </a:r>
            <a:r>
              <a:rPr b="0" lang="en" sz="95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Interactive Proxy:</a:t>
            </a: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The technical visualization serves as a benchmark-informed interactive proxy, not a validated biomedical simulator.</a:t>
            </a:r>
            <a:endParaRPr b="0" sz="9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• </a:t>
            </a:r>
            <a:r>
              <a:rPr b="0" lang="en" sz="950">
                <a:solidFill>
                  <a:srgbClr val="FF7D66"/>
                </a:solidFill>
                <a:latin typeface="Inter Medium"/>
                <a:ea typeface="Inter Medium"/>
                <a:cs typeface="Inter Medium"/>
                <a:sym typeface="Inter Medium"/>
              </a:rPr>
              <a:t>Authority:</a:t>
            </a: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Original NASA OSDR records remain the authoritative source.</a:t>
            </a:r>
            <a:endParaRPr b="0" sz="9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• </a:t>
            </a:r>
            <a:r>
              <a:rPr b="0" lang="en" sz="950">
                <a:solidFill>
                  <a:srgbClr val="FF5400"/>
                </a:solidFill>
                <a:latin typeface="Inter Medium"/>
                <a:ea typeface="Inter Medium"/>
                <a:cs typeface="Inter Medium"/>
                <a:sym typeface="Inter Medium"/>
              </a:rPr>
              <a:t>Media Companion:</a:t>
            </a:r>
            <a:r>
              <a:rPr b="0" lang="en" sz="950">
                <a:solidFill>
                  <a:srgbClr val="F4F4F0"/>
                </a:solidFill>
                <a:latin typeface="Inter Light"/>
                <a:ea typeface="Inter Light"/>
                <a:cs typeface="Inter Light"/>
                <a:sym typeface="Inter Light"/>
              </a:rPr>
              <a:t> All narrative companion materials represent stylized creative content, not scientific evidence.</a:t>
            </a:r>
            <a:endParaRPr b="0" sz="950">
              <a:solidFill>
                <a:srgbClr val="F4F4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